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9" r:id="rId6"/>
    <p:sldId id="270" r:id="rId7"/>
    <p:sldId id="273" r:id="rId8"/>
    <p:sldId id="274" r:id="rId9"/>
    <p:sldId id="272" r:id="rId10"/>
    <p:sldId id="271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A728A9A-9F33-8C66-7F45-7B274536FE5A}">
          <p14:sldIdLst>
            <p14:sldId id="256"/>
          </p14:sldIdLst>
        </p14:section>
        <p14:section name="Images as points" id="{A5A4F042-8FFC-F6D6-2E11-B29BB7F36DCC}">
          <p14:sldIdLst>
            <p14:sldId id="257"/>
            <p14:sldId id="258"/>
          </p14:sldIdLst>
        </p14:section>
        <p14:section name="Generation" id="{5B3CA33F-8C25-A094-7E48-512DD0DA964C}">
          <p14:sldIdLst>
            <p14:sldId id="259"/>
            <p14:sldId id="269"/>
            <p14:sldId id="270"/>
            <p14:sldId id="273"/>
            <p14:sldId id="274"/>
            <p14:sldId id="272"/>
            <p14:sldId id="271"/>
          </p14:sldIdLst>
        </p14:section>
        <p14:section name="Training" id="{6F1BF715-227D-0EC5-268F-D5FE29B03DE4}">
          <p14:sldIdLst>
            <p14:sldId id="260"/>
            <p14:sldId id="261"/>
            <p14:sldId id="262"/>
          </p14:sldIdLst>
        </p14:section>
        <p14:section name="vs. Diffusion" id="{C1596098-D892-B266-6BF6-8501842D22EF}">
          <p14:sldIdLst>
            <p14:sldId id="263"/>
            <p14:sldId id="264"/>
          </p14:sldIdLst>
        </p14:section>
        <p14:section name="Closing" id="{AAE71171-2527-140D-6C09-07C816AF75D2}">
          <p14:sldIdLst>
            <p14:sldId id="265"/>
          </p14:sldIdLst>
        </p14:section>
        <p14:section name="Backup" id="{39C8A8C1-ABAA-C55E-FE81-A8A7020FC5AF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09"/>
    <p:restoredTop sz="74254"/>
  </p:normalViewPr>
  <p:slideViewPr>
    <p:cSldViewPr snapToGrid="0" snapToObjects="1">
      <p:cViewPr varScale="1">
        <p:scale>
          <a:sx n="112" d="100"/>
          <a:sy n="112" d="100"/>
        </p:scale>
        <p:origin x="10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4166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3D4166"/>
                </a:solidFill>
                <a:latin typeface="+mn-lt"/>
              </a:rPr>
              <a:t>One particle: noise x₀ = 1 → data x₁ = 3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 matching (straight)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1.1000000000000001</c:v>
                </c:pt>
                <c:pt idx="2">
                  <c:v>1.2</c:v>
                </c:pt>
                <c:pt idx="3">
                  <c:v>1.3</c:v>
                </c:pt>
                <c:pt idx="4">
                  <c:v>1.4</c:v>
                </c:pt>
                <c:pt idx="5">
                  <c:v>1.5</c:v>
                </c:pt>
                <c:pt idx="6">
                  <c:v>1.6</c:v>
                </c:pt>
                <c:pt idx="7">
                  <c:v>1.7</c:v>
                </c:pt>
                <c:pt idx="8">
                  <c:v>1.8</c:v>
                </c:pt>
                <c:pt idx="9">
                  <c:v>1.9</c:v>
                </c:pt>
                <c:pt idx="10">
                  <c:v>2</c:v>
                </c:pt>
                <c:pt idx="11">
                  <c:v>2.1</c:v>
                </c:pt>
                <c:pt idx="12">
                  <c:v>2.2000000000000002</c:v>
                </c:pt>
                <c:pt idx="13">
                  <c:v>2.2999999999999998</c:v>
                </c:pt>
                <c:pt idx="14">
                  <c:v>2.4</c:v>
                </c:pt>
                <c:pt idx="15">
                  <c:v>2.5</c:v>
                </c:pt>
                <c:pt idx="16">
                  <c:v>2.6</c:v>
                </c:pt>
                <c:pt idx="17">
                  <c:v>2.7</c:v>
                </c:pt>
                <c:pt idx="18">
                  <c:v>2.8</c:v>
                </c:pt>
                <c:pt idx="19">
                  <c:v>2.9</c:v>
                </c:pt>
                <c:pt idx="20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B7-CE40-B0DD-D51A0E6181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Diffusion (VP schedule)</c:v>
                </c:pt>
              </c:strCache>
            </c:strRef>
          </c:tx>
          <c:spPr>
            <a:ln w="31750" cap="flat">
              <a:solidFill>
                <a:srgbClr val="D85A3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xVal>
          <c:yVal>
            <c:numRef>
              <c:f>Sheet1!$C$2:$C$22</c:f>
              <c:numCache>
                <c:formatCode>General</c:formatCode>
                <c:ptCount val="21"/>
                <c:pt idx="0">
                  <c:v>1.02</c:v>
                </c:pt>
                <c:pt idx="1">
                  <c:v>1.032</c:v>
                </c:pt>
                <c:pt idx="2">
                  <c:v>1.0509999999999999</c:v>
                </c:pt>
                <c:pt idx="3">
                  <c:v>1.079</c:v>
                </c:pt>
                <c:pt idx="4">
                  <c:v>1.119</c:v>
                </c:pt>
                <c:pt idx="5">
                  <c:v>1.1739999999999999</c:v>
                </c:pt>
                <c:pt idx="6">
                  <c:v>1.2490000000000001</c:v>
                </c:pt>
                <c:pt idx="7">
                  <c:v>1.3480000000000001</c:v>
                </c:pt>
                <c:pt idx="8">
                  <c:v>1.472</c:v>
                </c:pt>
                <c:pt idx="9">
                  <c:v>1.6240000000000001</c:v>
                </c:pt>
                <c:pt idx="10">
                  <c:v>1.8029999999999999</c:v>
                </c:pt>
                <c:pt idx="11">
                  <c:v>2.0049999999999999</c:v>
                </c:pt>
                <c:pt idx="12">
                  <c:v>2.2240000000000002</c:v>
                </c:pt>
                <c:pt idx="13">
                  <c:v>2.448</c:v>
                </c:pt>
                <c:pt idx="14">
                  <c:v>2.6659999999999999</c:v>
                </c:pt>
                <c:pt idx="15">
                  <c:v>2.8610000000000002</c:v>
                </c:pt>
                <c:pt idx="16">
                  <c:v>3.0190000000000001</c:v>
                </c:pt>
                <c:pt idx="17">
                  <c:v>3.1230000000000002</c:v>
                </c:pt>
                <c:pt idx="18">
                  <c:v>3.1619999999999999</c:v>
                </c:pt>
                <c:pt idx="19">
                  <c:v>3.1269999999999998</c:v>
                </c:pt>
                <c:pt idx="20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2B7-CE40-B0DD-D51A0E618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A8D9F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8A8D9F"/>
                    </a:solidFill>
                    <a:latin typeface="Arial"/>
                  </a:rPr>
                  <a:t>time 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D9F"/>
                </a:solidFill>
                <a:latin typeface="+mn-lt"/>
              </a:defRPr>
            </a:pPr>
            <a:endParaRPr lang="zh-CN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3.4"/>
          <c:min val="0.8"/>
        </c:scaling>
        <c:delete val="0"/>
        <c:axPos val="l"/>
        <c:majorGridlines>
          <c:spPr>
            <a:ln w="6350" cap="flat">
              <a:solidFill>
                <a:srgbClr val="E4E5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A8D9F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8A8D9F"/>
                    </a:solidFill>
                    <a:latin typeface="Arial"/>
                  </a:rPr>
                  <a:t>position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D9F"/>
                </a:solidFill>
                <a:latin typeface="+mn-lt"/>
              </a:defRPr>
            </a:pPr>
            <a:endParaRPr lang="zh-CN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166"/>
              </a:solidFill>
              <a:latin typeface="+mn-lt"/>
              <a:cs typeface="+mn-lt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69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开场直接给出中心句：生成一张图，就是把一个噪声点沿着速度场推到真实图片所在的区域。今天只讲四件事：图片是空间里的点；生成就是沿速度场走；怎么训练、为什么能学对；和扩散模型的区别。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关键概念：一张 64×64 彩色图 flatten 后是 12288 个数，也就是 12288 维空间里的一个点。这里的位置不是像素在图里的位置，而是这一整张图在所有可能图片中的坐标，颜色值本身就是坐标。噪声图是每个数都随机抽的点；真实照片有结构，相邻像素相似。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缩到 2 个像素的灰度图，一张图就是平面上的一个点。灰点是噪声，散满整个平面；绿点是真实图片，相邻像素亮度相近，所以挤在对角线附近。可以问大家：(0.9, −0.9) 这个点是什么图？是左亮右暗的图，不在绿带上，不像真实图片。推广到 12288 维：噪声是一团云，真实图片只占一个极薄的区域。生成就是把点从云里挪到薄区域里。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速度场是一个函数 v(x, t)：输入当前的图和时刻，输出一张同样大小的方向图。这就是要训练的网络（U-Net 或 Transformer）。t 只是进度条，0 是噪声，1 是图片。生成就是这个循环，数学上叫解 ODE（Euler 方法）。每一步调用一次网络，步数决定速度。过程是确定性的：同一张噪声永远生成同一张图。所以整个问题归结为：怎么训练出 v。图中箭头是 t=0.4 时刻的速度场快照。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Score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matching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https://</a:t>
            </a:r>
            <a:r>
              <a:rPr kumimoji="1" lang="en-US" altLang="zh-CN" dirty="0" err="1"/>
              <a:t>www.bilibili.com</a:t>
            </a:r>
            <a:r>
              <a:rPr kumimoji="1" lang="en-US" altLang="zh-CN" dirty="0"/>
              <a:t>/video/BV135po6zEHq/?</a:t>
            </a:r>
            <a:r>
              <a:rPr kumimoji="1" lang="en-US" altLang="zh-CN" dirty="0" err="1"/>
              <a:t>spm_id_from</a:t>
            </a:r>
            <a:r>
              <a:rPr kumimoji="1" lang="en-US" altLang="zh-CN" dirty="0"/>
              <a:t>=333.337.search-card.all.click&amp;vd_source=261121c37060417ec7b13c9377313abe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4017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/>
              <a:t>x_{1:T}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x₁, x₂, …, </a:t>
            </a:r>
            <a:r>
              <a:rPr lang="en-US" altLang="zh-CN" dirty="0" err="1"/>
              <a:t>x_T</a:t>
            </a:r>
            <a:r>
              <a:rPr lang="en-US" altLang="zh-CN" dirty="0"/>
              <a:t> </a:t>
            </a:r>
            <a:r>
              <a:rPr lang="zh-CN" altLang="en-US" dirty="0"/>
              <a:t>的简写，表示</a:t>
            </a:r>
            <a:r>
              <a:rPr lang="zh-CN" altLang="en-US" b="1" dirty="0"/>
              <a:t>整条加噪轨迹上除了起点以外的所有中间状态</a:t>
            </a:r>
            <a:r>
              <a:rPr lang="zh-CN" altLang="en-US" dirty="0"/>
              <a:t>。</a:t>
            </a:r>
            <a:r>
              <a:rPr lang="en-US" altLang="zh-CN" dirty="0"/>
              <a:t>x_{0:T} </a:t>
            </a:r>
            <a:r>
              <a:rPr lang="zh-CN" altLang="en-US" dirty="0"/>
              <a:t>则把起点 </a:t>
            </a:r>
            <a:r>
              <a:rPr lang="en-US" altLang="zh-CN" dirty="0"/>
              <a:t>x₀ </a:t>
            </a:r>
            <a:r>
              <a:rPr lang="zh-CN" altLang="en-US" dirty="0"/>
              <a:t>也包括进去。如果 </a:t>
            </a:r>
            <a:r>
              <a:rPr lang="en-US" altLang="zh-CN" dirty="0"/>
              <a:t>T = 1000</a:t>
            </a:r>
            <a:r>
              <a:rPr lang="zh-CN" altLang="en-US" dirty="0"/>
              <a:t>，每个 </a:t>
            </a:r>
            <a:r>
              <a:rPr lang="en-US" altLang="zh-CN" dirty="0" err="1"/>
              <a:t>x_t</a:t>
            </a:r>
            <a:r>
              <a:rPr lang="en-US" altLang="zh-CN" dirty="0"/>
              <a:t> </a:t>
            </a:r>
            <a:r>
              <a:rPr lang="zh-CN" altLang="en-US" dirty="0"/>
              <a:t>都是一张 </a:t>
            </a:r>
            <a:r>
              <a:rPr lang="en-US" altLang="zh-CN" dirty="0"/>
              <a:t>12288 </a:t>
            </a:r>
            <a:r>
              <a:rPr lang="zh-CN" altLang="en-US" dirty="0"/>
              <a:t>维的图，那么 </a:t>
            </a:r>
            <a:r>
              <a:rPr lang="en-US" altLang="zh-CN" dirty="0"/>
              <a:t>x_{1:T} </a:t>
            </a:r>
            <a:r>
              <a:rPr lang="zh-CN" altLang="en-US" dirty="0"/>
              <a:t>就是一千张图连在一起，总共一千多万个数。</a:t>
            </a:r>
            <a:endParaRPr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q(x1:T|x0)</a:t>
            </a:r>
            <a:r>
              <a:rPr lang="zh-CN" altLang="en-US" dirty="0"/>
              <a:t>它读作</a:t>
            </a:r>
            <a:r>
              <a:rPr lang="en-US" altLang="zh-CN" dirty="0"/>
              <a:t>"</a:t>
            </a:r>
            <a:r>
              <a:rPr lang="zh-CN" altLang="en-US" b="1" dirty="0"/>
              <a:t>给定 </a:t>
            </a:r>
            <a:r>
              <a:rPr lang="en-US" altLang="zh-CN" b="1" dirty="0"/>
              <a:t>x₀ </a:t>
            </a:r>
            <a:r>
              <a:rPr lang="zh-CN" altLang="en-US" b="1" dirty="0"/>
              <a:t>时，</a:t>
            </a:r>
            <a:r>
              <a:rPr lang="en-US" altLang="zh-CN" b="1" dirty="0"/>
              <a:t>x₁ </a:t>
            </a:r>
            <a:r>
              <a:rPr lang="zh-CN" altLang="en-US" b="1" dirty="0"/>
              <a:t>到 </a:t>
            </a:r>
            <a:r>
              <a:rPr lang="en-US" altLang="zh-CN" b="1" dirty="0" err="1"/>
              <a:t>x_T</a:t>
            </a:r>
            <a:r>
              <a:rPr lang="en-US" altLang="zh-CN" b="1" dirty="0"/>
              <a:t> </a:t>
            </a:r>
            <a:r>
              <a:rPr lang="zh-CN" altLang="en-US" b="1" dirty="0"/>
              <a:t>的联合概率</a:t>
            </a:r>
            <a:r>
              <a:rPr lang="en-US" altLang="zh-CN" dirty="0"/>
              <a:t>"</a:t>
            </a:r>
            <a:r>
              <a:rPr lang="zh-CN" altLang="en-US" dirty="0"/>
              <a:t>，意思是：</a:t>
            </a:r>
            <a:r>
              <a:rPr lang="zh-CN" altLang="en-US" b="1" dirty="0"/>
              <a:t>从一张真实图片 </a:t>
            </a:r>
            <a:r>
              <a:rPr lang="en-US" altLang="zh-CN" b="1" dirty="0"/>
              <a:t>x₀ </a:t>
            </a:r>
            <a:r>
              <a:rPr lang="zh-CN" altLang="en-US" b="1" dirty="0"/>
              <a:t>出发，加噪过程走出某一条具体轨迹 </a:t>
            </a:r>
            <a:r>
              <a:rPr lang="en-US" altLang="zh-CN" b="1" dirty="0"/>
              <a:t>x₁, x₂, …, </a:t>
            </a:r>
            <a:r>
              <a:rPr lang="en-US" altLang="zh-CN" b="1" dirty="0" err="1"/>
              <a:t>x_T</a:t>
            </a:r>
            <a:r>
              <a:rPr lang="en-US" altLang="zh-CN" b="1" dirty="0"/>
              <a:t> </a:t>
            </a:r>
            <a:r>
              <a:rPr lang="zh-CN" altLang="en-US" b="1" dirty="0"/>
              <a:t>的概率。</a:t>
            </a:r>
            <a:endParaRPr lang="en-US" altLang="zh-CN" b="1" dirty="0"/>
          </a:p>
          <a:p>
            <a:endParaRPr kumimoji="1" lang="en-US" altLang="zh-CN" b="1" dirty="0"/>
          </a:p>
          <a:p>
            <a:r>
              <a:rPr kumimoji="1" lang="en-US" altLang="zh-CN" b="1" dirty="0" err="1"/>
              <a:t>p_theta</a:t>
            </a:r>
            <a:r>
              <a:rPr kumimoji="1" lang="en-US" altLang="zh-CN" b="1" dirty="0"/>
              <a:t>(x0:T)</a:t>
            </a:r>
          </a:p>
          <a:p>
            <a:r>
              <a:rPr lang="zh-CN" altLang="en-US" dirty="0"/>
              <a:t>模型按上面这个流程生成时，恰好走出某一串特定的图 </a:t>
            </a:r>
            <a:r>
              <a:rPr lang="en-US" altLang="zh-CN" dirty="0"/>
              <a:t>(x₃, x₂, x₁, x₀) </a:t>
            </a:r>
            <a:r>
              <a:rPr lang="zh-CN" altLang="en-US" dirty="0"/>
              <a:t>的概率有多大</a:t>
            </a:r>
            <a:endParaRPr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lang="zh-CN" altLang="en-US" dirty="0"/>
              <a:t>期望本身可以用采样估计：抽几条加噪路径，把比值平均一下。但问题是外面还套着一个 </a:t>
            </a:r>
            <a:r>
              <a:rPr lang="en-US" altLang="zh-CN" dirty="0"/>
              <a:t>log</a:t>
            </a:r>
            <a:r>
              <a:rPr lang="zh-CN" altLang="en-US" dirty="0"/>
              <a:t>。用少量样本估出来的平均值有误差，取了 </a:t>
            </a:r>
            <a:r>
              <a:rPr lang="en-US" altLang="zh-CN" dirty="0"/>
              <a:t>log </a:t>
            </a:r>
            <a:r>
              <a:rPr lang="zh-CN" altLang="en-US" dirty="0"/>
              <a:t>之后，</a:t>
            </a:r>
            <a:r>
              <a:rPr lang="en-US" altLang="zh-CN" b="1" dirty="0"/>
              <a:t>log(</a:t>
            </a:r>
            <a:r>
              <a:rPr lang="zh-CN" altLang="en-US" b="1" dirty="0"/>
              <a:t>估计的平均</a:t>
            </a:r>
            <a:r>
              <a:rPr lang="en-US" altLang="zh-CN" b="1" dirty="0"/>
              <a:t>) </a:t>
            </a:r>
            <a:r>
              <a:rPr lang="zh-CN" altLang="en-US" b="1" dirty="0"/>
              <a:t>的期望并不等于 </a:t>
            </a:r>
            <a:r>
              <a:rPr lang="en-US" altLang="zh-CN" b="1" dirty="0"/>
              <a:t>log(</a:t>
            </a:r>
            <a:r>
              <a:rPr lang="zh-CN" altLang="en-US" b="1" dirty="0"/>
              <a:t>真正的平均</a:t>
            </a:r>
            <a:r>
              <a:rPr lang="en-US" altLang="zh-CN" b="1" dirty="0"/>
              <a:t>)</a:t>
            </a:r>
            <a:r>
              <a:rPr lang="zh-CN" altLang="en-US" dirty="0"/>
              <a:t>，结果是有偏的。而且这个比值在高维里波动极大，少量样本估计的平均值很不稳定。所以这一行虽然是等式，实际训练中</a:t>
            </a:r>
            <a:r>
              <a:rPr lang="zh-CN" altLang="en-US" b="1" dirty="0"/>
              <a:t>不用它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lang="zh-CN" altLang="en-US" b="0" i="0" dirty="0">
                <a:solidFill>
                  <a:srgbClr val="F0EFEC"/>
                </a:solidFill>
                <a:effectLst/>
                <a:latin typeface="anthropic-sans"/>
              </a:rPr>
              <a:t>最后一行是</a:t>
            </a:r>
            <a:r>
              <a:rPr lang="en-US" altLang="zh-CN" b="0" i="0" dirty="0">
                <a:solidFill>
                  <a:srgbClr val="F0EFEC"/>
                </a:solidFill>
                <a:effectLst/>
                <a:latin typeface="anthropic-sans"/>
              </a:rPr>
              <a:t>"</a:t>
            </a:r>
            <a:r>
              <a:rPr lang="zh-CN" altLang="en-US" b="0" i="0" dirty="0">
                <a:solidFill>
                  <a:srgbClr val="F0EFEC"/>
                </a:solidFill>
                <a:effectLst/>
                <a:latin typeface="anthropic-sans"/>
              </a:rPr>
              <a:t>对 </a:t>
            </a:r>
            <a:r>
              <a:rPr lang="en-US" altLang="zh-CN" b="0" i="0" dirty="0">
                <a:solidFill>
                  <a:srgbClr val="F0EFEC"/>
                </a:solidFill>
                <a:effectLst/>
                <a:latin typeface="anthropic-sans"/>
              </a:rPr>
              <a:t>log </a:t>
            </a:r>
            <a:r>
              <a:rPr lang="zh-CN" altLang="en-US" b="0" i="0" dirty="0">
                <a:solidFill>
                  <a:srgbClr val="F0EFEC"/>
                </a:solidFill>
                <a:effectLst/>
                <a:latin typeface="anthropic-sans"/>
              </a:rPr>
              <a:t>求平均</a:t>
            </a:r>
            <a:r>
              <a:rPr lang="en-US" altLang="zh-CN" b="0" i="0" dirty="0">
                <a:solidFill>
                  <a:srgbClr val="F0EFEC"/>
                </a:solidFill>
                <a:effectLst/>
                <a:latin typeface="anthropic-sans"/>
              </a:rPr>
              <a:t>"</a:t>
            </a:r>
            <a:r>
              <a:rPr lang="zh-CN" altLang="en-US" b="0" i="0" dirty="0">
                <a:solidFill>
                  <a:srgbClr val="F0EFEC"/>
                </a:solidFill>
                <a:effectLst/>
                <a:latin typeface="anthropic-sans"/>
              </a:rPr>
              <a:t>。随便抽一条加噪路径，算出括号里的 </a:t>
            </a:r>
            <a:r>
              <a:rPr lang="en-US" altLang="zh-CN" b="0" i="0" dirty="0">
                <a:solidFill>
                  <a:srgbClr val="F0EFEC"/>
                </a:solidFill>
                <a:effectLst/>
                <a:latin typeface="anthropic-sans"/>
              </a:rPr>
              <a:t>log </a:t>
            </a:r>
            <a:r>
              <a:rPr lang="zh-CN" altLang="en-US" b="0" i="0" dirty="0">
                <a:solidFill>
                  <a:srgbClr val="F0EFEC"/>
                </a:solidFill>
                <a:effectLst/>
                <a:latin typeface="anthropic-sans"/>
              </a:rPr>
              <a:t>值，它就是整个期望的一个无偏估计。抽得越多越准，但训练时每次抽一条也没问题，因为几百万步训练会自动把误差平均掉（和 </a:t>
            </a:r>
            <a:r>
              <a:rPr lang="en-US" altLang="zh-CN" b="0" i="0" dirty="0">
                <a:solidFill>
                  <a:srgbClr val="F0EFEC"/>
                </a:solidFill>
                <a:effectLst/>
                <a:latin typeface="anthropic-sans"/>
              </a:rPr>
              <a:t>flow matching </a:t>
            </a:r>
            <a:r>
              <a:rPr lang="zh-CN" altLang="en-US" b="0" i="0" dirty="0">
                <a:solidFill>
                  <a:srgbClr val="F0EFEC"/>
                </a:solidFill>
                <a:effectLst/>
                <a:latin typeface="anthropic-sans"/>
              </a:rPr>
              <a:t>用单条直线训练是同一个道理）。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4922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难点：训练回归网络需要标准答案，但没人知道这张噪声该变成哪张图，路上每个位置该往哪走更不知道。论文的办法：随机抽一张真实图、随机抽一张噪声，假装它们是一对，连一条直线，让网络学这条直线的速度（终点减起点）。两点注意：配对完全随机；训练不需要解 ODE，成本和训练分类器差不多。这正是论文的标题级贡献：以前训练 CNF 每一步都要解 ODE，所以做不大；flow matching 把它变成了普通回归。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配对随机，所以同一个位置会有很多条线经过，方向不同。具体看 t=0.5, x=0.5：去 +2 的线，剩 1.5 的距离、0.5 的时间，速度 +3；去 −2 的线，速度 −5。同一个输入有两个矛盾的标签。98% 和 2% 怎么来：t=0.5 时去 +2 的那群分布在 +1 附近，去 −2 的在 −1 附近，宽度都是 0.5。x=0.5 离 +1 一个标准差，离 −1 三个标准差，密度比约 55:1。就是在这个位置数人头。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机器学习常识：同一个输入有多个标签，均方误差的最优解是标签的加权平均。所以网络在这里学到 0.98×3 + 0.02×(−5) ≈ 2.86，基本朝 +2，被另一边稍微拉回。右图是平均后的流：线不再交叉（ODE 轨迹本来就不能交叉，同一位置只能有一个速度）。开头平、中间分叉，因为一开始两群重叠，速度相互抵消。为什么这个平均流是对的：按目标分群，每群沿直线走都正确；合在一起，总速度就是按密度加权的平均，正是网络学到的（Theorem 1、2）。小结：出题粗糙，平均之后答案精确。右下角是论文的正式说法：L_FM 回归算不出的平均速度，L_CFM 回归单条直线的速度，Theorem 2 说两者梯度相同。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一句话交代扩散模型：定义一个加噪过程，从真实图片一点点加噪声直到变成雪花，然后训练网络把过程倒过来，即预测混进了什么噪声，生成时一步步去掉。训练循环对比：抽样、均方误差、不需要模拟，都一样。只差两行：怎么混合、预测什么。扩散问'混进了什么噪声'，得到的是该去掉什么，还要换算成往哪走；flow matching 直接问'往哪走'。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'怎么混合'这一行决定了路线。一维例子：起点 1，终点 3。flow matching 匀速直线；扩散前半段几乎不动，后半段冲过头到 3.16 再折回（论文 Figure 3、Figure 6 也能看到）。生成要一步步数值积分：直线可以迈大步，弯路要小步。论文实验：同一网络，CIFAR-10 上约 142 次 vs 约 274 次网络调用，质量还更好，训练也更稳定。诚实补充：对高斯路径，预测噪声和预测速度可以互相换算，真正区别是路径：扩散的路线由加噪过程推导出来，没得选；flow matching 可以直接设计路线，选最简单的直线。右上角的公式就是 Theorem 3：所有高斯路径都是 x_t = σ_t x₀ + μ_t，扩散和直线只是 μ_t、σ_t 的选法不同。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回到中心句：flow matching 用随机配对的直线训练速度场，均方误差自动把它们平均成正确方向；和扩散相比训练框架几乎一样，但路径更直，生成更快。小尾巴：每条训练直线是直的，但平均后的真实轨迹是弯的，怎么拉直是 Rectified Flow 等后续工作；guidance、潜空间是课程后面几讲。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备用页，有人追问严格表述时再放。L_FM 是想要的损失，但边缘速度场 u_t(x) 是对整个数据集的后验平均，算不出来。L_CFM 每次只用一条直线的速度，可以直接算。Theorem 1：边缘速度场满足连续性方程，所以确实能把噪声分布运到数据分布。Theorem 2：两个损失只差一个与 θ 无关的常数（目标本身的方差），梯度相同。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 3：对高斯条件路径，最简单的流是 x_t = σ_t x₀ + μ_t，即中心平移加均匀伸缩，每个粒子离中心几个标准差保持不变。速度场 = 中心速度 + 伸缩率 × 离中心距离（类似哈勃定律）。OT 路径代入得到恒定速度 x₁ − (1−σ_min)x₀；VP、VE 扩散代入得到论文式 (17)、(19)，并且和扩散模型的 probability flow ODE 一致（附录 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备用页。1）98% 的来历：两群粒子在 t=0.5 都是宽度 0.5 的高斯，x=0.5 离 +1 一个标准差、离 −1 三个标准差，密度比 e⁴≈55。2）扩散模型也有确定性的 ODE 版本：Fokker–Planck 方程改写成连续性方程，等效速度 f − g²/2 ∇log p，路径相同。3）论文承认的局限：条件路径是直的，但边缘路径是弯的，也不是全局最优传输；实验主要是无条件生成。后续的 Rectified Flow、minibatch OT 在解决第一个问题。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377440"/>
            <a:ext cx="7315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Matching, Intuitively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3774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Lipman et al., Flow Matching for Generative Modeling (ICLR 2023)</a:t>
            </a:r>
            <a:endParaRPr lang="en-US" sz="18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 image = pushing a noise point along a velocity field until it lands among real images.</a:t>
            </a:r>
            <a:endParaRPr lang="en-US" sz="1800" dirty="0"/>
          </a:p>
        </p:txBody>
      </p:sp>
      <p:sp>
        <p:nvSpPr>
          <p:cNvPr id="4" name="motif-dot-0"/>
          <p:cNvSpPr/>
          <p:nvPr/>
        </p:nvSpPr>
        <p:spPr>
          <a:xfrm>
            <a:off x="6949440" y="4206240"/>
            <a:ext cx="292608" cy="2926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motif-dot-1"/>
          <p:cNvSpPr/>
          <p:nvPr/>
        </p:nvSpPr>
        <p:spPr>
          <a:xfrm>
            <a:off x="7498080" y="420624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motif-dot-2"/>
          <p:cNvSpPr/>
          <p:nvPr/>
        </p:nvSpPr>
        <p:spPr>
          <a:xfrm>
            <a:off x="8046720" y="4206240"/>
            <a:ext cx="292608" cy="29260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image is a point in space</a:t>
            </a:r>
            <a:endParaRPr lang="en-US" sz="3200" dirty="0"/>
          </a:p>
        </p:txBody>
      </p:sp>
      <p:sp>
        <p:nvSpPr>
          <p:cNvPr id="3" name="pixel-0-0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pixel-0-1"/>
          <p:cNvSpPr/>
          <p:nvPr/>
        </p:nvSpPr>
        <p:spPr>
          <a:xfrm>
            <a:off x="1024128" y="1417320"/>
            <a:ext cx="365760" cy="365760"/>
          </a:xfrm>
          <a:prstGeom prst="rect">
            <a:avLst/>
          </a:prstGeom>
          <a:solidFill>
            <a:srgbClr val="7F77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pixel-0-2"/>
          <p:cNvSpPr/>
          <p:nvPr/>
        </p:nvSpPr>
        <p:spPr>
          <a:xfrm>
            <a:off x="1408176" y="1417320"/>
            <a:ext cx="365760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pixel-0-3"/>
          <p:cNvSpPr/>
          <p:nvPr/>
        </p:nvSpPr>
        <p:spPr>
          <a:xfrm>
            <a:off x="1792224" y="1417320"/>
            <a:ext cx="365760" cy="36576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pixel-1-0"/>
          <p:cNvSpPr/>
          <p:nvPr/>
        </p:nvSpPr>
        <p:spPr>
          <a:xfrm>
            <a:off x="640080" y="1801368"/>
            <a:ext cx="365760" cy="365760"/>
          </a:xfrm>
          <a:prstGeom prst="rect">
            <a:avLst/>
          </a:prstGeom>
          <a:solidFill>
            <a:srgbClr val="2F6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pixel-1-1"/>
          <p:cNvSpPr/>
          <p:nvPr/>
        </p:nvSpPr>
        <p:spPr>
          <a:xfrm>
            <a:off x="1024128" y="1801368"/>
            <a:ext cx="365760" cy="365760"/>
          </a:xfrm>
          <a:prstGeom prst="rect">
            <a:avLst/>
          </a:prstGeom>
          <a:solidFill>
            <a:srgbClr val="8A8D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pixel-1-2"/>
          <p:cNvSpPr/>
          <p:nvPr/>
        </p:nvSpPr>
        <p:spPr>
          <a:xfrm>
            <a:off x="1408176" y="1801368"/>
            <a:ext cx="36576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pixel-1-3"/>
          <p:cNvSpPr/>
          <p:nvPr/>
        </p:nvSpPr>
        <p:spPr>
          <a:xfrm>
            <a:off x="1792224" y="1801368"/>
            <a:ext cx="365760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pixel-2-0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pixel-2-1"/>
          <p:cNvSpPr/>
          <p:nvPr/>
        </p:nvSpPr>
        <p:spPr>
          <a:xfrm>
            <a:off x="1024128" y="2185416"/>
            <a:ext cx="365760" cy="365760"/>
          </a:xfrm>
          <a:prstGeom prst="rect">
            <a:avLst/>
          </a:prstGeom>
          <a:solidFill>
            <a:srgbClr val="7F77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pixel-2-2"/>
          <p:cNvSpPr/>
          <p:nvPr/>
        </p:nvSpPr>
        <p:spPr>
          <a:xfrm>
            <a:off x="1408176" y="2185416"/>
            <a:ext cx="365760" cy="365760"/>
          </a:xfrm>
          <a:prstGeom prst="rect">
            <a:avLst/>
          </a:prstGeom>
          <a:solidFill>
            <a:srgbClr val="2F6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pixel-2-3"/>
          <p:cNvSpPr/>
          <p:nvPr/>
        </p:nvSpPr>
        <p:spPr>
          <a:xfrm>
            <a:off x="1792224" y="2185416"/>
            <a:ext cx="36576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pixel-3-0"/>
          <p:cNvSpPr/>
          <p:nvPr/>
        </p:nvSpPr>
        <p:spPr>
          <a:xfrm>
            <a:off x="640080" y="2569464"/>
            <a:ext cx="365760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pixel-3-1"/>
          <p:cNvSpPr/>
          <p:nvPr/>
        </p:nvSpPr>
        <p:spPr>
          <a:xfrm>
            <a:off x="1024128" y="2569464"/>
            <a:ext cx="365760" cy="365760"/>
          </a:xfrm>
          <a:prstGeom prst="rect">
            <a:avLst/>
          </a:prstGeom>
          <a:solidFill>
            <a:srgbClr val="8A8D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pixel-3-2"/>
          <p:cNvSpPr/>
          <p:nvPr/>
        </p:nvSpPr>
        <p:spPr>
          <a:xfrm>
            <a:off x="1408176" y="2569464"/>
            <a:ext cx="365760" cy="365760"/>
          </a:xfrm>
          <a:prstGeom prst="rect">
            <a:avLst/>
          </a:prstGeom>
          <a:solidFill>
            <a:srgbClr val="7F77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pixel-3-3"/>
          <p:cNvSpPr/>
          <p:nvPr/>
        </p:nvSpPr>
        <p:spPr>
          <a:xfrm>
            <a:off x="1792224" y="2569464"/>
            <a:ext cx="365760" cy="36576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64 × 3 image tensor</a:t>
            </a:r>
            <a:endParaRPr lang="en-US" sz="1200" dirty="0"/>
          </a:p>
        </p:txBody>
      </p:sp>
      <p:sp>
        <p:nvSpPr>
          <p:cNvPr id="20" name="flatten-arrow"/>
          <p:cNvSpPr/>
          <p:nvPr/>
        </p:nvSpPr>
        <p:spPr>
          <a:xfrm>
            <a:off x="2423160" y="1965960"/>
            <a:ext cx="548640" cy="411480"/>
          </a:xfrm>
          <a:prstGeom prst="rightArrow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22" name="vector-card"/>
          <p:cNvSpPr/>
          <p:nvPr/>
        </p:nvSpPr>
        <p:spPr>
          <a:xfrm>
            <a:off x="3154680" y="160020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1737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[0.8, 0.2, −0.5,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−0.3, 1.1, …]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12,288 numbers</a:t>
            </a:r>
            <a:endParaRPr lang="en-US" sz="1300" dirty="0"/>
          </a:p>
        </p:txBody>
      </p:sp>
      <p:sp>
        <p:nvSpPr>
          <p:cNvPr id="24" name="row-dot-0"/>
          <p:cNvSpPr/>
          <p:nvPr/>
        </p:nvSpPr>
        <p:spPr>
          <a:xfrm>
            <a:off x="5440680" y="137160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= pixel values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1673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is part of the coordinates, not separate from them.</a:t>
            </a:r>
            <a:endParaRPr lang="en-US" sz="1400" dirty="0"/>
          </a:p>
        </p:txBody>
      </p:sp>
      <p:sp>
        <p:nvSpPr>
          <p:cNvPr id="27" name="row-dot-1"/>
          <p:cNvSpPr/>
          <p:nvPr/>
        </p:nvSpPr>
        <p:spPr>
          <a:xfrm>
            <a:off x="5440680" y="2423160"/>
            <a:ext cx="365760" cy="365760"/>
          </a:xfrm>
          <a:prstGeom prst="ellipse">
            <a:avLst/>
          </a:prstGeom>
          <a:solidFill>
            <a:srgbClr val="8A8D9F"/>
          </a:solidFill>
          <a:ln w="12700">
            <a:solidFill>
              <a:srgbClr val="8A8D9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image = random point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drawn independently from a Gaussian.</a:t>
            </a:r>
            <a:endParaRPr lang="en-US" sz="1400" dirty="0"/>
          </a:p>
        </p:txBody>
      </p:sp>
      <p:sp>
        <p:nvSpPr>
          <p:cNvPr id="30" name="row-dot-2"/>
          <p:cNvSpPr/>
          <p:nvPr/>
        </p:nvSpPr>
        <p:spPr>
          <a:xfrm>
            <a:off x="5440680" y="3474720"/>
            <a:ext cx="365760" cy="36576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 = structured point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3776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pixels agree, so photos are rare points.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977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“Position” here means where the whole image sits among all possible images, not where a pixel sits inside the picture.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82880" y="2606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images live in a thin region</a:t>
            </a:r>
            <a:endParaRPr lang="en-US" sz="3200" dirty="0"/>
          </a:p>
        </p:txBody>
      </p:sp>
      <p:pic>
        <p:nvPicPr>
          <p:cNvPr id="3" name="Image 0" descr="Plane of two-pixel images: gray noise points everywhere, green real-image points along the diago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" y="946404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200400" y="116814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the image to just 2 gray pixels: every image becomes a point in a plane.</a:t>
            </a:r>
            <a:endParaRPr lang="en-US" sz="1600" dirty="0"/>
          </a:p>
        </p:txBody>
      </p:sp>
      <p:sp>
        <p:nvSpPr>
          <p:cNvPr id="5" name="noise-card"/>
          <p:cNvSpPr/>
          <p:nvPr/>
        </p:nvSpPr>
        <p:spPr>
          <a:xfrm>
            <a:off x="3461004" y="1913737"/>
            <a:ext cx="4114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ise-dot"/>
          <p:cNvSpPr/>
          <p:nvPr/>
        </p:nvSpPr>
        <p:spPr>
          <a:xfrm>
            <a:off x="3643884" y="2124049"/>
            <a:ext cx="329184" cy="329184"/>
          </a:xfrm>
          <a:prstGeom prst="ellipse">
            <a:avLst/>
          </a:prstGeom>
          <a:solidFill>
            <a:srgbClr val="8A8D9F"/>
          </a:solidFill>
          <a:ln w="12700">
            <a:solidFill>
              <a:srgbClr val="8A8D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46804" y="2005177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fills the whole plane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pixels with no relation to each other</a:t>
            </a:r>
            <a:endParaRPr lang="en-US" sz="1400" dirty="0"/>
          </a:p>
        </p:txBody>
      </p:sp>
      <p:sp>
        <p:nvSpPr>
          <p:cNvPr id="8" name="data-card"/>
          <p:cNvSpPr/>
          <p:nvPr/>
        </p:nvSpPr>
        <p:spPr>
          <a:xfrm>
            <a:off x="3461004" y="2828137"/>
            <a:ext cx="4114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ata-dot"/>
          <p:cNvSpPr/>
          <p:nvPr/>
        </p:nvSpPr>
        <p:spPr>
          <a:xfrm>
            <a:off x="3643884" y="3038449"/>
            <a:ext cx="329184" cy="32918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46804" y="2919577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images hug the diagonal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pixels have similar brightness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61004" y="3788257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= </a:t>
            </a: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point from the gray cloud onto the green band. In 12,288 dimensions the rule is the same, just impossible to draw.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30408E8-2F0B-E64F-8460-338B7933E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424" y="1929662"/>
            <a:ext cx="1459842" cy="18585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AD8AC8E-A70F-7146-9AE0-2950D1A04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54" y="221772"/>
            <a:ext cx="1411422" cy="15767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= follow the arrows</a:t>
            </a:r>
            <a:endParaRPr lang="en-US" sz="3200" dirty="0"/>
          </a:p>
        </p:txBody>
      </p:sp>
      <p:pic>
        <p:nvPicPr>
          <p:cNvPr id="3" name="Image 0" descr="2D velocity field with arrows; trajectories from gray noise starts curve into two real-image targe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794760" cy="3794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0" y="1143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v(x, t) gives an arrow at every point and time. Start from noise and step along the arrows:</a:t>
            </a:r>
            <a:endParaRPr lang="en-US" sz="1500" dirty="0"/>
          </a:p>
        </p:txBody>
      </p:sp>
      <p:sp>
        <p:nvSpPr>
          <p:cNvPr id="5" name="euler-code"/>
          <p:cNvSpPr/>
          <p:nvPr/>
        </p:nvSpPr>
        <p:spPr>
          <a:xfrm>
            <a:off x="4572000" y="1874520"/>
            <a:ext cx="4114800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0" y="1984248"/>
            <a:ext cx="3749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torch.randn(64, 64, 3)  # noise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range(N):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k / 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(1/N) * v(x, t)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is now an image</a:t>
            </a:r>
            <a:endParaRPr lang="en-US" sz="1200" dirty="0"/>
          </a:p>
        </p:txBody>
      </p:sp>
      <p:sp>
        <p:nvSpPr>
          <p:cNvPr id="7" name="steps-dot"/>
          <p:cNvSpPr/>
          <p:nvPr/>
        </p:nvSpPr>
        <p:spPr>
          <a:xfrm>
            <a:off x="4572000" y="3520440"/>
            <a:ext cx="329184" cy="329184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steps = N network calls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steps means faster generation</a:t>
            </a:r>
            <a:endParaRPr lang="en-US" sz="1400" dirty="0"/>
          </a:p>
        </p:txBody>
      </p:sp>
      <p:sp>
        <p:nvSpPr>
          <p:cNvPr id="10" name="det-dot"/>
          <p:cNvSpPr/>
          <p:nvPr/>
        </p:nvSpPr>
        <p:spPr>
          <a:xfrm>
            <a:off x="4572000" y="4160520"/>
            <a:ext cx="329184" cy="32918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noise → same image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images come from different starting noise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F208DCA-07B0-2B4E-8491-92ABAEDE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687" y="32409"/>
            <a:ext cx="2243190" cy="10946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062F9EA-44D4-DD46-BBF7-DFA8796D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" y="1324822"/>
            <a:ext cx="3072581" cy="1109038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D32BC95A-95D7-3843-807D-401EE72C1C09}"/>
              </a:ext>
            </a:extLst>
          </p:cNvPr>
          <p:cNvSpPr/>
          <p:nvPr/>
        </p:nvSpPr>
        <p:spPr>
          <a:xfrm>
            <a:off x="3897834" y="218473"/>
            <a:ext cx="668594" cy="20289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Image 0" descr="Learned averaged flow: trajectories do not cross and split smoothly toward +2 and −2">
            <a:extLst>
              <a:ext uri="{FF2B5EF4-FFF2-40B4-BE49-F238E27FC236}">
                <a16:creationId xmlns:a16="http://schemas.microsoft.com/office/drawing/2014/main" id="{604CE9BA-C730-7A41-B15D-179FAE371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87" y="3149868"/>
            <a:ext cx="2942521" cy="196168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E4F3563D-1454-E74D-8F90-61BFB5296C74}"/>
              </a:ext>
            </a:extLst>
          </p:cNvPr>
          <p:cNvSpPr/>
          <p:nvPr/>
        </p:nvSpPr>
        <p:spPr>
          <a:xfrm>
            <a:off x="6248759" y="-13375"/>
            <a:ext cx="550607" cy="202898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6EEE0B-763C-ED4A-A70F-3650C394F22E}"/>
              </a:ext>
            </a:extLst>
          </p:cNvPr>
          <p:cNvSpPr/>
          <p:nvPr/>
        </p:nvSpPr>
        <p:spPr>
          <a:xfrm>
            <a:off x="6462610" y="109035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602D0E0-2B5D-084B-8930-AD27910DF66C}"/>
              </a:ext>
            </a:extLst>
          </p:cNvPr>
          <p:cNvSpPr/>
          <p:nvPr/>
        </p:nvSpPr>
        <p:spPr>
          <a:xfrm>
            <a:off x="6619925" y="365616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A7E315F-51B4-2A46-9A62-794842B75D63}"/>
              </a:ext>
            </a:extLst>
          </p:cNvPr>
          <p:cNvSpPr/>
          <p:nvPr/>
        </p:nvSpPr>
        <p:spPr>
          <a:xfrm>
            <a:off x="6265962" y="828764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2851B8-042B-E947-8175-C0D81676351F}"/>
              </a:ext>
            </a:extLst>
          </p:cNvPr>
          <p:cNvSpPr/>
          <p:nvPr/>
        </p:nvSpPr>
        <p:spPr>
          <a:xfrm>
            <a:off x="6669086" y="804132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EAC411D-DA72-5640-92BC-B181924D1A35}"/>
              </a:ext>
            </a:extLst>
          </p:cNvPr>
          <p:cNvSpPr/>
          <p:nvPr/>
        </p:nvSpPr>
        <p:spPr>
          <a:xfrm>
            <a:off x="6305295" y="396610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CB586AD-3EAC-B548-948C-72563DBAA3EC}"/>
              </a:ext>
            </a:extLst>
          </p:cNvPr>
          <p:cNvSpPr/>
          <p:nvPr/>
        </p:nvSpPr>
        <p:spPr>
          <a:xfrm>
            <a:off x="6482274" y="834066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8C80456-A4A2-F64C-B513-980ABCF48F90}"/>
              </a:ext>
            </a:extLst>
          </p:cNvPr>
          <p:cNvSpPr/>
          <p:nvPr/>
        </p:nvSpPr>
        <p:spPr>
          <a:xfrm>
            <a:off x="6334788" y="1224465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5BCF1F3-4558-5240-AFFF-213D4853ED23}"/>
              </a:ext>
            </a:extLst>
          </p:cNvPr>
          <p:cNvSpPr/>
          <p:nvPr/>
        </p:nvSpPr>
        <p:spPr>
          <a:xfrm>
            <a:off x="6619926" y="1232967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F34D02C-7207-D64F-980E-BB93C3D76780}"/>
              </a:ext>
            </a:extLst>
          </p:cNvPr>
          <p:cNvSpPr/>
          <p:nvPr/>
        </p:nvSpPr>
        <p:spPr>
          <a:xfrm>
            <a:off x="6474902" y="1535212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6329B9FE-B2EE-B44C-907D-E0C544E4296F}"/>
              </a:ext>
            </a:extLst>
          </p:cNvPr>
          <p:cNvSpPr/>
          <p:nvPr/>
        </p:nvSpPr>
        <p:spPr>
          <a:xfrm>
            <a:off x="4871747" y="14589"/>
            <a:ext cx="708480" cy="812160"/>
          </a:xfrm>
          <a:custGeom>
            <a:avLst/>
            <a:gdLst>
              <a:gd name="connsiteX0" fmla="*/ 363794 w 1209368"/>
              <a:gd name="connsiteY0" fmla="*/ 648929 h 1386349"/>
              <a:gd name="connsiteX1" fmla="*/ 265471 w 1209368"/>
              <a:gd name="connsiteY1" fmla="*/ 629265 h 1386349"/>
              <a:gd name="connsiteX2" fmla="*/ 127820 w 1209368"/>
              <a:gd name="connsiteY2" fmla="*/ 491613 h 1386349"/>
              <a:gd name="connsiteX3" fmla="*/ 88491 w 1209368"/>
              <a:gd name="connsiteY3" fmla="*/ 452284 h 1386349"/>
              <a:gd name="connsiteX4" fmla="*/ 39329 w 1209368"/>
              <a:gd name="connsiteY4" fmla="*/ 373626 h 1386349"/>
              <a:gd name="connsiteX5" fmla="*/ 19665 w 1209368"/>
              <a:gd name="connsiteY5" fmla="*/ 344129 h 1386349"/>
              <a:gd name="connsiteX6" fmla="*/ 0 w 1209368"/>
              <a:gd name="connsiteY6" fmla="*/ 285136 h 1386349"/>
              <a:gd name="connsiteX7" fmla="*/ 19665 w 1209368"/>
              <a:gd name="connsiteY7" fmla="*/ 157316 h 1386349"/>
              <a:gd name="connsiteX8" fmla="*/ 49162 w 1209368"/>
              <a:gd name="connsiteY8" fmla="*/ 117987 h 1386349"/>
              <a:gd name="connsiteX9" fmla="*/ 108155 w 1209368"/>
              <a:gd name="connsiteY9" fmla="*/ 58994 h 1386349"/>
              <a:gd name="connsiteX10" fmla="*/ 206478 w 1209368"/>
              <a:gd name="connsiteY10" fmla="*/ 39329 h 1386349"/>
              <a:gd name="connsiteX11" fmla="*/ 334297 w 1209368"/>
              <a:gd name="connsiteY11" fmla="*/ 9832 h 1386349"/>
              <a:gd name="connsiteX12" fmla="*/ 383458 w 1209368"/>
              <a:gd name="connsiteY12" fmla="*/ 0 h 1386349"/>
              <a:gd name="connsiteX13" fmla="*/ 934065 w 1209368"/>
              <a:gd name="connsiteY13" fmla="*/ 9832 h 1386349"/>
              <a:gd name="connsiteX14" fmla="*/ 963562 w 1209368"/>
              <a:gd name="connsiteY14" fmla="*/ 29497 h 1386349"/>
              <a:gd name="connsiteX15" fmla="*/ 1012723 w 1209368"/>
              <a:gd name="connsiteY15" fmla="*/ 39329 h 1386349"/>
              <a:gd name="connsiteX16" fmla="*/ 1071717 w 1209368"/>
              <a:gd name="connsiteY16" fmla="*/ 58994 h 1386349"/>
              <a:gd name="connsiteX17" fmla="*/ 1140542 w 1209368"/>
              <a:gd name="connsiteY17" fmla="*/ 117987 h 1386349"/>
              <a:gd name="connsiteX18" fmla="*/ 1160207 w 1209368"/>
              <a:gd name="connsiteY18" fmla="*/ 157316 h 1386349"/>
              <a:gd name="connsiteX19" fmla="*/ 1179871 w 1209368"/>
              <a:gd name="connsiteY19" fmla="*/ 186813 h 1386349"/>
              <a:gd name="connsiteX20" fmla="*/ 1189704 w 1209368"/>
              <a:gd name="connsiteY20" fmla="*/ 216310 h 1386349"/>
              <a:gd name="connsiteX21" fmla="*/ 1209368 w 1209368"/>
              <a:gd name="connsiteY21" fmla="*/ 265471 h 1386349"/>
              <a:gd name="connsiteX22" fmla="*/ 1199536 w 1209368"/>
              <a:gd name="connsiteY22" fmla="*/ 383458 h 1386349"/>
              <a:gd name="connsiteX23" fmla="*/ 1130710 w 1209368"/>
              <a:gd name="connsiteY23" fmla="*/ 511278 h 1386349"/>
              <a:gd name="connsiteX24" fmla="*/ 1091381 w 1209368"/>
              <a:gd name="connsiteY24" fmla="*/ 570271 h 1386349"/>
              <a:gd name="connsiteX25" fmla="*/ 1061884 w 1209368"/>
              <a:gd name="connsiteY25" fmla="*/ 589936 h 1386349"/>
              <a:gd name="connsiteX26" fmla="*/ 993058 w 1209368"/>
              <a:gd name="connsiteY26" fmla="*/ 648929 h 1386349"/>
              <a:gd name="connsiteX27" fmla="*/ 953729 w 1209368"/>
              <a:gd name="connsiteY27" fmla="*/ 688258 h 1386349"/>
              <a:gd name="connsiteX28" fmla="*/ 894736 w 1209368"/>
              <a:gd name="connsiteY28" fmla="*/ 707923 h 1386349"/>
              <a:gd name="connsiteX29" fmla="*/ 816078 w 1209368"/>
              <a:gd name="connsiteY29" fmla="*/ 757084 h 1386349"/>
              <a:gd name="connsiteX30" fmla="*/ 776749 w 1209368"/>
              <a:gd name="connsiteY30" fmla="*/ 786581 h 1386349"/>
              <a:gd name="connsiteX31" fmla="*/ 727587 w 1209368"/>
              <a:gd name="connsiteY31" fmla="*/ 796413 h 1386349"/>
              <a:gd name="connsiteX32" fmla="*/ 648929 w 1209368"/>
              <a:gd name="connsiteY32" fmla="*/ 816078 h 1386349"/>
              <a:gd name="connsiteX33" fmla="*/ 521110 w 1209368"/>
              <a:gd name="connsiteY33" fmla="*/ 825910 h 1386349"/>
              <a:gd name="connsiteX34" fmla="*/ 511278 w 1209368"/>
              <a:gd name="connsiteY34" fmla="*/ 855407 h 1386349"/>
              <a:gd name="connsiteX35" fmla="*/ 491613 w 1209368"/>
              <a:gd name="connsiteY35" fmla="*/ 993058 h 1386349"/>
              <a:gd name="connsiteX36" fmla="*/ 471949 w 1209368"/>
              <a:gd name="connsiteY36" fmla="*/ 1061884 h 1386349"/>
              <a:gd name="connsiteX37" fmla="*/ 452284 w 1209368"/>
              <a:gd name="connsiteY37" fmla="*/ 1120878 h 1386349"/>
              <a:gd name="connsiteX38" fmla="*/ 432620 w 1209368"/>
              <a:gd name="connsiteY38" fmla="*/ 1199536 h 1386349"/>
              <a:gd name="connsiteX39" fmla="*/ 442452 w 1209368"/>
              <a:gd name="connsiteY39" fmla="*/ 1317523 h 1386349"/>
              <a:gd name="connsiteX40" fmla="*/ 422787 w 1209368"/>
              <a:gd name="connsiteY40" fmla="*/ 1376516 h 1386349"/>
              <a:gd name="connsiteX41" fmla="*/ 393291 w 1209368"/>
              <a:gd name="connsiteY41" fmla="*/ 1386349 h 138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09368" h="1386349">
                <a:moveTo>
                  <a:pt x="363794" y="648929"/>
                </a:moveTo>
                <a:cubicBezTo>
                  <a:pt x="331020" y="642374"/>
                  <a:pt x="296014" y="642839"/>
                  <a:pt x="265471" y="629265"/>
                </a:cubicBezTo>
                <a:cubicBezTo>
                  <a:pt x="171081" y="587314"/>
                  <a:pt x="195990" y="559783"/>
                  <a:pt x="127820" y="491613"/>
                </a:cubicBezTo>
                <a:cubicBezTo>
                  <a:pt x="114710" y="478503"/>
                  <a:pt x="100700" y="466237"/>
                  <a:pt x="88491" y="452284"/>
                </a:cubicBezTo>
                <a:cubicBezTo>
                  <a:pt x="49788" y="408052"/>
                  <a:pt x="66691" y="421509"/>
                  <a:pt x="39329" y="373626"/>
                </a:cubicBezTo>
                <a:cubicBezTo>
                  <a:pt x="33466" y="363366"/>
                  <a:pt x="24464" y="354927"/>
                  <a:pt x="19665" y="344129"/>
                </a:cubicBezTo>
                <a:cubicBezTo>
                  <a:pt x="11247" y="325187"/>
                  <a:pt x="0" y="285136"/>
                  <a:pt x="0" y="285136"/>
                </a:cubicBezTo>
                <a:cubicBezTo>
                  <a:pt x="1113" y="274006"/>
                  <a:pt x="2486" y="187380"/>
                  <a:pt x="19665" y="157316"/>
                </a:cubicBezTo>
                <a:cubicBezTo>
                  <a:pt x="27795" y="143088"/>
                  <a:pt x="38200" y="130167"/>
                  <a:pt x="49162" y="117987"/>
                </a:cubicBezTo>
                <a:cubicBezTo>
                  <a:pt x="67766" y="97316"/>
                  <a:pt x="81773" y="67789"/>
                  <a:pt x="108155" y="58994"/>
                </a:cubicBezTo>
                <a:cubicBezTo>
                  <a:pt x="159637" y="41832"/>
                  <a:pt x="127392" y="50627"/>
                  <a:pt x="206478" y="39329"/>
                </a:cubicBezTo>
                <a:cubicBezTo>
                  <a:pt x="267682" y="18928"/>
                  <a:pt x="225815" y="31529"/>
                  <a:pt x="334297" y="9832"/>
                </a:cubicBezTo>
                <a:lnTo>
                  <a:pt x="383458" y="0"/>
                </a:lnTo>
                <a:cubicBezTo>
                  <a:pt x="566994" y="3277"/>
                  <a:pt x="750737" y="510"/>
                  <a:pt x="934065" y="9832"/>
                </a:cubicBezTo>
                <a:cubicBezTo>
                  <a:pt x="945867" y="10432"/>
                  <a:pt x="952497" y="25348"/>
                  <a:pt x="963562" y="29497"/>
                </a:cubicBezTo>
                <a:cubicBezTo>
                  <a:pt x="979209" y="35365"/>
                  <a:pt x="996600" y="34932"/>
                  <a:pt x="1012723" y="39329"/>
                </a:cubicBezTo>
                <a:cubicBezTo>
                  <a:pt x="1032721" y="44783"/>
                  <a:pt x="1071717" y="58994"/>
                  <a:pt x="1071717" y="58994"/>
                </a:cubicBezTo>
                <a:cubicBezTo>
                  <a:pt x="1092373" y="74486"/>
                  <a:pt x="1124741" y="95865"/>
                  <a:pt x="1140542" y="117987"/>
                </a:cubicBezTo>
                <a:cubicBezTo>
                  <a:pt x="1149061" y="129914"/>
                  <a:pt x="1152935" y="144590"/>
                  <a:pt x="1160207" y="157316"/>
                </a:cubicBezTo>
                <a:cubicBezTo>
                  <a:pt x="1166070" y="167576"/>
                  <a:pt x="1174586" y="176244"/>
                  <a:pt x="1179871" y="186813"/>
                </a:cubicBezTo>
                <a:cubicBezTo>
                  <a:pt x="1184506" y="196083"/>
                  <a:pt x="1186065" y="206606"/>
                  <a:pt x="1189704" y="216310"/>
                </a:cubicBezTo>
                <a:cubicBezTo>
                  <a:pt x="1195901" y="232836"/>
                  <a:pt x="1202813" y="249084"/>
                  <a:pt x="1209368" y="265471"/>
                </a:cubicBezTo>
                <a:cubicBezTo>
                  <a:pt x="1206091" y="304800"/>
                  <a:pt x="1204752" y="344339"/>
                  <a:pt x="1199536" y="383458"/>
                </a:cubicBezTo>
                <a:cubicBezTo>
                  <a:pt x="1194532" y="420989"/>
                  <a:pt x="1132660" y="508158"/>
                  <a:pt x="1130710" y="511278"/>
                </a:cubicBezTo>
                <a:cubicBezTo>
                  <a:pt x="1118184" y="531319"/>
                  <a:pt x="1106944" y="552485"/>
                  <a:pt x="1091381" y="570271"/>
                </a:cubicBezTo>
                <a:cubicBezTo>
                  <a:pt x="1083599" y="579164"/>
                  <a:pt x="1071112" y="582554"/>
                  <a:pt x="1061884" y="589936"/>
                </a:cubicBezTo>
                <a:cubicBezTo>
                  <a:pt x="1038289" y="608812"/>
                  <a:pt x="1015416" y="628603"/>
                  <a:pt x="993058" y="648929"/>
                </a:cubicBezTo>
                <a:cubicBezTo>
                  <a:pt x="979340" y="661400"/>
                  <a:pt x="969627" y="678719"/>
                  <a:pt x="953729" y="688258"/>
                </a:cubicBezTo>
                <a:cubicBezTo>
                  <a:pt x="935955" y="698923"/>
                  <a:pt x="914400" y="701368"/>
                  <a:pt x="894736" y="707923"/>
                </a:cubicBezTo>
                <a:cubicBezTo>
                  <a:pt x="783323" y="791484"/>
                  <a:pt x="924050" y="689602"/>
                  <a:pt x="816078" y="757084"/>
                </a:cubicBezTo>
                <a:cubicBezTo>
                  <a:pt x="802182" y="765769"/>
                  <a:pt x="791724" y="779926"/>
                  <a:pt x="776749" y="786581"/>
                </a:cubicBezTo>
                <a:cubicBezTo>
                  <a:pt x="761478" y="793368"/>
                  <a:pt x="743800" y="792360"/>
                  <a:pt x="727587" y="796413"/>
                </a:cubicBezTo>
                <a:cubicBezTo>
                  <a:pt x="678572" y="808666"/>
                  <a:pt x="714162" y="808830"/>
                  <a:pt x="648929" y="816078"/>
                </a:cubicBezTo>
                <a:cubicBezTo>
                  <a:pt x="606458" y="820797"/>
                  <a:pt x="563716" y="822633"/>
                  <a:pt x="521110" y="825910"/>
                </a:cubicBezTo>
                <a:cubicBezTo>
                  <a:pt x="517833" y="835742"/>
                  <a:pt x="513079" y="845201"/>
                  <a:pt x="511278" y="855407"/>
                </a:cubicBezTo>
                <a:cubicBezTo>
                  <a:pt x="503223" y="901051"/>
                  <a:pt x="506270" y="949087"/>
                  <a:pt x="491613" y="993058"/>
                </a:cubicBezTo>
                <a:cubicBezTo>
                  <a:pt x="458561" y="1092218"/>
                  <a:pt x="508998" y="938386"/>
                  <a:pt x="471949" y="1061884"/>
                </a:cubicBezTo>
                <a:cubicBezTo>
                  <a:pt x="465993" y="1081738"/>
                  <a:pt x="457311" y="1100768"/>
                  <a:pt x="452284" y="1120878"/>
                </a:cubicBezTo>
                <a:lnTo>
                  <a:pt x="432620" y="1199536"/>
                </a:lnTo>
                <a:cubicBezTo>
                  <a:pt x="435897" y="1238865"/>
                  <a:pt x="444641" y="1278118"/>
                  <a:pt x="442452" y="1317523"/>
                </a:cubicBezTo>
                <a:cubicBezTo>
                  <a:pt x="441302" y="1338219"/>
                  <a:pt x="442451" y="1369961"/>
                  <a:pt x="422787" y="1376516"/>
                </a:cubicBezTo>
                <a:lnTo>
                  <a:pt x="393291" y="138634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2E9E84F2-478F-054E-9F54-307B9183FECF}"/>
              </a:ext>
            </a:extLst>
          </p:cNvPr>
          <p:cNvSpPr/>
          <p:nvPr/>
        </p:nvSpPr>
        <p:spPr>
          <a:xfrm>
            <a:off x="5094050" y="797456"/>
            <a:ext cx="88899" cy="93097"/>
          </a:xfrm>
          <a:custGeom>
            <a:avLst/>
            <a:gdLst>
              <a:gd name="connsiteX0" fmla="*/ 91069 w 151750"/>
              <a:gd name="connsiteY0" fmla="*/ 11432 h 158916"/>
              <a:gd name="connsiteX1" fmla="*/ 2578 w 151750"/>
              <a:gd name="connsiteY1" fmla="*/ 21264 h 158916"/>
              <a:gd name="connsiteX2" fmla="*/ 32075 w 151750"/>
              <a:gd name="connsiteY2" fmla="*/ 139252 h 158916"/>
              <a:gd name="connsiteX3" fmla="*/ 91069 w 151750"/>
              <a:gd name="connsiteY3" fmla="*/ 158916 h 158916"/>
              <a:gd name="connsiteX4" fmla="*/ 130398 w 151750"/>
              <a:gd name="connsiteY4" fmla="*/ 149084 h 158916"/>
              <a:gd name="connsiteX5" fmla="*/ 140230 w 151750"/>
              <a:gd name="connsiteY5" fmla="*/ 50761 h 158916"/>
              <a:gd name="connsiteX6" fmla="*/ 110733 w 151750"/>
              <a:gd name="connsiteY6" fmla="*/ 21264 h 158916"/>
              <a:gd name="connsiteX7" fmla="*/ 81236 w 151750"/>
              <a:gd name="connsiteY7" fmla="*/ 1600 h 158916"/>
              <a:gd name="connsiteX8" fmla="*/ 41907 w 151750"/>
              <a:gd name="connsiteY8" fmla="*/ 1600 h 158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750" h="158916">
                <a:moveTo>
                  <a:pt x="91069" y="11432"/>
                </a:moveTo>
                <a:cubicBezTo>
                  <a:pt x="61572" y="14709"/>
                  <a:pt x="21118" y="-1911"/>
                  <a:pt x="2578" y="21264"/>
                </a:cubicBezTo>
                <a:cubicBezTo>
                  <a:pt x="-4827" y="30520"/>
                  <a:pt x="3330" y="121287"/>
                  <a:pt x="32075" y="139252"/>
                </a:cubicBezTo>
                <a:cubicBezTo>
                  <a:pt x="49653" y="150238"/>
                  <a:pt x="91069" y="158916"/>
                  <a:pt x="91069" y="158916"/>
                </a:cubicBezTo>
                <a:cubicBezTo>
                  <a:pt x="104179" y="155639"/>
                  <a:pt x="119154" y="156580"/>
                  <a:pt x="130398" y="149084"/>
                </a:cubicBezTo>
                <a:cubicBezTo>
                  <a:pt x="163139" y="127256"/>
                  <a:pt x="151297" y="78427"/>
                  <a:pt x="140230" y="50761"/>
                </a:cubicBezTo>
                <a:cubicBezTo>
                  <a:pt x="135066" y="37851"/>
                  <a:pt x="121415" y="30166"/>
                  <a:pt x="110733" y="21264"/>
                </a:cubicBezTo>
                <a:cubicBezTo>
                  <a:pt x="101655" y="13699"/>
                  <a:pt x="92598" y="4846"/>
                  <a:pt x="81236" y="1600"/>
                </a:cubicBezTo>
                <a:cubicBezTo>
                  <a:pt x="68631" y="-2001"/>
                  <a:pt x="55017" y="1600"/>
                  <a:pt x="41907" y="16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26" name="Picture 2" descr="Steady state fluids' flow in a pipe. | Download Scientific Diagram">
            <a:extLst>
              <a:ext uri="{FF2B5EF4-FFF2-40B4-BE49-F238E27FC236}">
                <a16:creationId xmlns:a16="http://schemas.microsoft.com/office/drawing/2014/main" id="{04365BD2-FC96-F84C-87EC-06507B4D8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573" y="947630"/>
            <a:ext cx="1573163" cy="119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家乡的特色美食——漏鱼_搜狐网">
            <a:extLst>
              <a:ext uri="{FF2B5EF4-FFF2-40B4-BE49-F238E27FC236}">
                <a16:creationId xmlns:a16="http://schemas.microsoft.com/office/drawing/2014/main" id="{B21999DD-1DAF-424F-B6C2-F608444ED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052" y="-6664"/>
            <a:ext cx="1148793" cy="154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蝌蚪面（鱼鱼儿or面疙瘩）">
            <a:extLst>
              <a:ext uri="{FF2B5EF4-FFF2-40B4-BE49-F238E27FC236}">
                <a16:creationId xmlns:a16="http://schemas.microsoft.com/office/drawing/2014/main" id="{EF0A9AEC-5884-974F-81D0-2C1E4603E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395" y="1522841"/>
            <a:ext cx="1554375" cy="116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生面团Dough">
            <a:extLst>
              <a:ext uri="{FF2B5EF4-FFF2-40B4-BE49-F238E27FC236}">
                <a16:creationId xmlns:a16="http://schemas.microsoft.com/office/drawing/2014/main" id="{E326E95C-EBA7-EE4D-B30F-A567E3DE1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037" y="10339"/>
            <a:ext cx="1379524" cy="99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25D5630-4509-EF4E-87E5-511D1FE41E1E}"/>
              </a:ext>
            </a:extLst>
          </p:cNvPr>
          <p:cNvSpPr txBox="1"/>
          <p:nvPr/>
        </p:nvSpPr>
        <p:spPr>
          <a:xfrm>
            <a:off x="8175116" y="136276"/>
            <a:ext cx="1042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面鱼</a:t>
            </a:r>
            <a:endParaRPr kumimoji="1" lang="en-US" altLang="zh-CN" dirty="0"/>
          </a:p>
          <a:p>
            <a:r>
              <a:rPr kumimoji="1" lang="en-US" altLang="zh-CN" dirty="0" err="1"/>
              <a:t>Mian</a:t>
            </a:r>
            <a:r>
              <a:rPr kumimoji="1" lang="zh-CN" altLang="en-US" dirty="0"/>
              <a:t> </a:t>
            </a:r>
            <a:r>
              <a:rPr kumimoji="1" lang="en-US" altLang="zh-CN" dirty="0"/>
              <a:t>Yu</a:t>
            </a:r>
          </a:p>
          <a:p>
            <a:r>
              <a:rPr kumimoji="1" lang="en-US" altLang="zh-CN" dirty="0"/>
              <a:t>Fish</a:t>
            </a:r>
            <a:r>
              <a:rPr kumimoji="1" lang="zh-CN" altLang="en-US" dirty="0"/>
              <a:t> </a:t>
            </a:r>
            <a:r>
              <a:rPr kumimoji="1" lang="en-US" altLang="zh-CN" dirty="0"/>
              <a:t>style</a:t>
            </a:r>
          </a:p>
          <a:p>
            <a:r>
              <a:rPr kumimoji="1" lang="en-US" altLang="zh-CN" dirty="0"/>
              <a:t>noodle</a:t>
            </a:r>
            <a:endParaRPr kumimoji="1" lang="zh-CN" altLang="en-US" dirty="0"/>
          </a:p>
        </p:txBody>
      </p:sp>
      <p:pic>
        <p:nvPicPr>
          <p:cNvPr id="1034" name="Picture 10" descr="🚀 Steady Flow vs Unsteady Flow – What's Flowing and What's Changing? | Vratesh Mukadam">
            <a:extLst>
              <a:ext uri="{FF2B5EF4-FFF2-40B4-BE49-F238E27FC236}">
                <a16:creationId xmlns:a16="http://schemas.microsoft.com/office/drawing/2014/main" id="{CEDA5AC9-AB12-984C-8433-6988F3ED9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862" y="3127923"/>
            <a:ext cx="2028987" cy="202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9970D3B6-B237-4E47-9488-9BAA693C1D6F}"/>
              </a:ext>
            </a:extLst>
          </p:cNvPr>
          <p:cNvCxnSpPr/>
          <p:nvPr/>
        </p:nvCxnSpPr>
        <p:spPr>
          <a:xfrm>
            <a:off x="4577573" y="2145938"/>
            <a:ext cx="172772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E2FDF9C-F39D-7B44-9B56-F8006997AC33}"/>
              </a:ext>
            </a:extLst>
          </p:cNvPr>
          <p:cNvSpPr txBox="1"/>
          <p:nvPr/>
        </p:nvSpPr>
        <p:spPr>
          <a:xfrm>
            <a:off x="5668659" y="1696280"/>
            <a:ext cx="361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t</a:t>
            </a:r>
            <a:endParaRPr kumimoji="1" lang="zh-CN" altLang="en-US" sz="28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2B991C3-8A17-644F-A1D6-7B9A5A774A05}"/>
              </a:ext>
            </a:extLst>
          </p:cNvPr>
          <p:cNvSpPr txBox="1"/>
          <p:nvPr/>
        </p:nvSpPr>
        <p:spPr>
          <a:xfrm>
            <a:off x="138746" y="2635152"/>
            <a:ext cx="8036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 x alone, v(t, x) changes with t: unsteady.</a:t>
            </a:r>
            <a:br>
              <a:rPr lang="en-US" altLang="zh-CN" dirty="0"/>
            </a:br>
            <a:r>
              <a:rPr lang="en-US" altLang="zh-CN" dirty="0"/>
              <a:t>In (t, x) space-time, trajectories are fixed streamlines: steady, so they never cross.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9596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CBB4E93C-7414-6A43-B876-0EA9E7D83EE1}"/>
              </a:ext>
            </a:extLst>
          </p:cNvPr>
          <p:cNvSpPr/>
          <p:nvPr/>
        </p:nvSpPr>
        <p:spPr>
          <a:xfrm>
            <a:off x="6248759" y="-13375"/>
            <a:ext cx="550607" cy="202898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67EBB1A-55EC-E84F-B060-47B034CE5E36}"/>
              </a:ext>
            </a:extLst>
          </p:cNvPr>
          <p:cNvSpPr/>
          <p:nvPr/>
        </p:nvSpPr>
        <p:spPr>
          <a:xfrm>
            <a:off x="3898351" y="22417"/>
            <a:ext cx="668594" cy="20289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B91BE0A-B40D-1442-909C-ACE79810CDD4}"/>
              </a:ext>
            </a:extLst>
          </p:cNvPr>
          <p:cNvSpPr/>
          <p:nvPr/>
        </p:nvSpPr>
        <p:spPr>
          <a:xfrm>
            <a:off x="6462610" y="109035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C8E45BB-B880-0644-803C-C8447DF4D815}"/>
              </a:ext>
            </a:extLst>
          </p:cNvPr>
          <p:cNvSpPr/>
          <p:nvPr/>
        </p:nvSpPr>
        <p:spPr>
          <a:xfrm>
            <a:off x="6619925" y="365616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D2550D0-86F6-D541-B213-23AFBCD15382}"/>
              </a:ext>
            </a:extLst>
          </p:cNvPr>
          <p:cNvSpPr/>
          <p:nvPr/>
        </p:nvSpPr>
        <p:spPr>
          <a:xfrm>
            <a:off x="6265962" y="828764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F873A70-424B-104F-9534-1ACAB73F8276}"/>
              </a:ext>
            </a:extLst>
          </p:cNvPr>
          <p:cNvSpPr/>
          <p:nvPr/>
        </p:nvSpPr>
        <p:spPr>
          <a:xfrm>
            <a:off x="6669086" y="804132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FF3AE1-8938-6D49-AAE4-D421310CA07A}"/>
              </a:ext>
            </a:extLst>
          </p:cNvPr>
          <p:cNvSpPr/>
          <p:nvPr/>
        </p:nvSpPr>
        <p:spPr>
          <a:xfrm>
            <a:off x="6305295" y="396610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8A05216-9039-124C-92F7-0ECC529B1AA9}"/>
              </a:ext>
            </a:extLst>
          </p:cNvPr>
          <p:cNvSpPr/>
          <p:nvPr/>
        </p:nvSpPr>
        <p:spPr>
          <a:xfrm>
            <a:off x="6482274" y="834066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E532212-0962-2D4A-B0A4-215F8BAB7C89}"/>
              </a:ext>
            </a:extLst>
          </p:cNvPr>
          <p:cNvSpPr/>
          <p:nvPr/>
        </p:nvSpPr>
        <p:spPr>
          <a:xfrm>
            <a:off x="6334788" y="1224465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5B7EEE5-0DC9-404E-840A-C5E6DDA910B0}"/>
              </a:ext>
            </a:extLst>
          </p:cNvPr>
          <p:cNvSpPr/>
          <p:nvPr/>
        </p:nvSpPr>
        <p:spPr>
          <a:xfrm>
            <a:off x="6619926" y="1232967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F5BBEAF-16F0-7645-A7C7-42CA57926FC9}"/>
              </a:ext>
            </a:extLst>
          </p:cNvPr>
          <p:cNvSpPr/>
          <p:nvPr/>
        </p:nvSpPr>
        <p:spPr>
          <a:xfrm>
            <a:off x="6474902" y="1535212"/>
            <a:ext cx="98322" cy="3441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Picture 2" descr="Steady state fluids' flow in a pipe. | Download Scientific Diagram">
            <a:extLst>
              <a:ext uri="{FF2B5EF4-FFF2-40B4-BE49-F238E27FC236}">
                <a16:creationId xmlns:a16="http://schemas.microsoft.com/office/drawing/2014/main" id="{CA5A370C-C607-C442-88AF-EB1B7B531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601" y="333650"/>
            <a:ext cx="1573163" cy="119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9345975-4076-8A40-BA1F-E5300F3B22A7}"/>
              </a:ext>
            </a:extLst>
          </p:cNvPr>
          <p:cNvSpPr txBox="1"/>
          <p:nvPr/>
        </p:nvSpPr>
        <p:spPr>
          <a:xfrm>
            <a:off x="158529" y="2706792"/>
            <a:ext cx="74742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DDPM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(</a:t>
            </a:r>
            <a:r>
              <a:rPr lang="en-US" altLang="zh-CN" sz="2800" dirty="0"/>
              <a:t>Reach your lowest</a:t>
            </a:r>
            <a:r>
              <a:rPr lang="en-US" altLang="zh-CN" sz="2800" dirty="0">
                <a:solidFill>
                  <a:srgbClr val="FF0000"/>
                </a:solidFill>
              </a:rPr>
              <a:t> potential!</a:t>
            </a:r>
            <a:r>
              <a:rPr kumimoji="1" lang="en-US" altLang="zh-CN" sz="2800" dirty="0">
                <a:solidFill>
                  <a:srgbClr val="FF0000"/>
                </a:solidFill>
              </a:rPr>
              <a:t>)</a:t>
            </a:r>
          </a:p>
          <a:p>
            <a:r>
              <a:rPr kumimoji="1" lang="en-US" altLang="zh-CN" sz="2800" dirty="0"/>
              <a:t>Score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Matching</a:t>
            </a:r>
            <a:r>
              <a:rPr kumimoji="1" lang="zh-CN" altLang="en-US" sz="2800" dirty="0"/>
              <a:t> （</a:t>
            </a:r>
            <a:r>
              <a:rPr kumimoji="1" lang="en-US" altLang="zh-CN" sz="2800" dirty="0"/>
              <a:t>May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the</a:t>
            </a:r>
            <a:r>
              <a:rPr kumimoji="1" lang="zh-CN" altLang="en-US" sz="2800" dirty="0"/>
              <a:t> </a:t>
            </a:r>
            <a:r>
              <a:rPr kumimoji="1" lang="en-US" altLang="zh-CN" sz="2800" dirty="0">
                <a:solidFill>
                  <a:srgbClr val="FF0000"/>
                </a:solidFill>
              </a:rPr>
              <a:t>force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be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with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you!</a:t>
            </a:r>
            <a:r>
              <a:rPr kumimoji="1" lang="zh-CN" altLang="en-US" sz="2800" dirty="0"/>
              <a:t>）</a:t>
            </a:r>
            <a:endParaRPr kumimoji="1" lang="en-US" altLang="zh-CN" sz="2800" dirty="0"/>
          </a:p>
          <a:p>
            <a:r>
              <a:rPr kumimoji="1" lang="en-US" altLang="zh-CN" sz="2800" dirty="0"/>
              <a:t>Flow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Matching(</a:t>
            </a:r>
            <a:r>
              <a:rPr kumimoji="1" lang="zh-CN" altLang="en-US" sz="2800" dirty="0"/>
              <a:t>顺流而下</a:t>
            </a:r>
            <a:r>
              <a:rPr lang="en-US" altLang="zh-CN" sz="2800" dirty="0"/>
              <a:t>Go with the </a:t>
            </a:r>
            <a:r>
              <a:rPr lang="en-US" altLang="zh-CN" sz="2800" dirty="0">
                <a:solidFill>
                  <a:srgbClr val="FF0000"/>
                </a:solidFill>
              </a:rPr>
              <a:t>flow</a:t>
            </a:r>
            <a:r>
              <a:rPr lang="zh-CN" altLang="en-US" sz="2800" dirty="0"/>
              <a:t>！</a:t>
            </a:r>
            <a:r>
              <a:rPr kumimoji="1" lang="en-US" altLang="zh-CN" sz="2800" dirty="0"/>
              <a:t>)</a:t>
            </a:r>
          </a:p>
          <a:p>
            <a:endParaRPr kumimoji="1" lang="en-US" altLang="zh-CN" sz="28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C56B709-5FFC-0547-A420-3193E6A22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69" y="3208208"/>
            <a:ext cx="1573163" cy="45228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2833619-C12F-FF45-A89E-E4EE568E36D8}"/>
              </a:ext>
            </a:extLst>
          </p:cNvPr>
          <p:cNvSpPr txBox="1"/>
          <p:nvPr/>
        </p:nvSpPr>
        <p:spPr>
          <a:xfrm>
            <a:off x="158528" y="4153342"/>
            <a:ext cx="55659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effectLst/>
                <a:latin typeface="anthropic-sans"/>
              </a:rPr>
              <a:t>DDPM derives its loss from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anthropic-sans"/>
              </a:rPr>
              <a:t>“lowering the potential at the data,” </a:t>
            </a:r>
            <a:r>
              <a:rPr lang="en-US" altLang="zh-CN" b="0" i="0" dirty="0">
                <a:effectLst/>
                <a:latin typeface="anthropic-sans"/>
              </a:rPr>
              <a:t>but what the network actually fits is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anthropic-sans"/>
              </a:rPr>
              <a:t>the force field at each time step</a:t>
            </a:r>
            <a:r>
              <a:rPr lang="en-US" altLang="zh-CN" b="0" i="0" dirty="0">
                <a:effectLst/>
                <a:latin typeface="anthropic-sans"/>
              </a:rPr>
              <a:t>.</a:t>
            </a:r>
            <a:endParaRPr lang="en-US" altLang="zh-CN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CB44F39-0384-A646-9099-453597212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214" y="3843000"/>
            <a:ext cx="1334382" cy="131446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8DE2A8F-3D29-6541-9E01-F408BCE87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972" y="39108"/>
            <a:ext cx="2116392" cy="191330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5142118-7530-9B49-9C11-E510ECC9CF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9925"/>
            <a:ext cx="2152241" cy="220760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9019A96-0AED-A045-BAAA-7F014A7F2D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9658" y="-13375"/>
            <a:ext cx="1213503" cy="155577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90B511C-01FE-0140-8108-EBCAEEA127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9389" y="1577096"/>
            <a:ext cx="2394665" cy="1227860"/>
          </a:xfrm>
          <a:prstGeom prst="rect">
            <a:avLst/>
          </a:prstGeom>
        </p:spPr>
      </p:pic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018B50D-AAB3-644A-9A08-3E55281E3A7D}"/>
              </a:ext>
            </a:extLst>
          </p:cNvPr>
          <p:cNvCxnSpPr/>
          <p:nvPr/>
        </p:nvCxnSpPr>
        <p:spPr>
          <a:xfrm>
            <a:off x="4539321" y="1793568"/>
            <a:ext cx="172772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2D0C66E-63D7-D245-A86E-BAF42AFAE7A9}"/>
              </a:ext>
            </a:extLst>
          </p:cNvPr>
          <p:cNvSpPr txBox="1"/>
          <p:nvPr/>
        </p:nvSpPr>
        <p:spPr>
          <a:xfrm>
            <a:off x="5403182" y="1270348"/>
            <a:ext cx="361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t</a:t>
            </a:r>
            <a:endParaRPr kumimoji="1" lang="zh-CN" altLang="en-US" sz="2800" dirty="0"/>
          </a:p>
        </p:txBody>
      </p:sp>
      <p:pic>
        <p:nvPicPr>
          <p:cNvPr id="2050" name="Picture 2" descr="Layers of the Atmosphere — About MetService">
            <a:extLst>
              <a:ext uri="{FF2B5EF4-FFF2-40B4-BE49-F238E27FC236}">
                <a16:creationId xmlns:a16="http://schemas.microsoft.com/office/drawing/2014/main" id="{4C32338B-E20D-0C44-BA01-3BE215372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601" y="1952412"/>
            <a:ext cx="1443388" cy="81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B9786F7-6FD2-A842-9F35-DEFB1EB3F0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7890" y="2557323"/>
            <a:ext cx="1727721" cy="5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78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33F77-EC45-274F-9EC1-300BBE33D9B8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8706A3-D853-684D-ACA1-E872D37E3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"/>
            <a:ext cx="902069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78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A7970-EEEE-4542-9CB0-ED48A2D2E3BD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kumimoji="1" lang="en-US" altLang="zh-CN" dirty="0"/>
              <a:t>Score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matching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86F0ED-56B1-E84F-BCDD-4AEFE9EDE0D1}"/>
              </a:ext>
            </a:extLst>
          </p:cNvPr>
          <p:cNvSpPr txBox="1"/>
          <p:nvPr/>
        </p:nvSpPr>
        <p:spPr>
          <a:xfrm>
            <a:off x="377190" y="960120"/>
            <a:ext cx="8458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Langevin dynamics describes </a:t>
            </a:r>
            <a:r>
              <a:rPr lang="en-US" altLang="zh-CN" b="1" dirty="0"/>
              <a:t>a particle on an energy landscape that slides downhill under a force while being constantly kicked by random collisions. Run it long enough, and the fraction of time the particle spends at each location follows the Boltzmann distribution p(x) ∝ e^{−U(x)}.</a:t>
            </a:r>
            <a:r>
              <a:rPr lang="en-US" altLang="zh-CN" dirty="0"/>
              <a:t> Diffusion models borrow it as the answer to the question “if I know the score, how do I sample?”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7CDDCA-888C-7F43-BB51-5AC4DE8CF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48878"/>
            <a:ext cx="5349240" cy="242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3DD742-5F90-804C-B891-C7648242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6017" y="337180"/>
            <a:ext cx="6968701" cy="42092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D8FDC4D-47DD-FE49-BF98-1A7FAB5650B3}"/>
              </a:ext>
            </a:extLst>
          </p:cNvPr>
          <p:cNvSpPr txBox="1"/>
          <p:nvPr/>
        </p:nvSpPr>
        <p:spPr>
          <a:xfrm>
            <a:off x="6968701" y="210306"/>
            <a:ext cx="2175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requires integrating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marginalizing</a:t>
            </a:r>
            <a:r>
              <a:rPr lang="zh-CN" altLang="en-US" dirty="0"/>
              <a:t>）</a:t>
            </a:r>
            <a:r>
              <a:rPr lang="en-US" altLang="zh-CN" dirty="0"/>
              <a:t> over all paths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latent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trajectories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5F4E6F-21CC-554B-B0CE-82BFC5CBF452}"/>
              </a:ext>
            </a:extLst>
          </p:cNvPr>
          <p:cNvSpPr txBox="1"/>
          <p:nvPr/>
        </p:nvSpPr>
        <p:spPr>
          <a:xfrm>
            <a:off x="6968701" y="1596165"/>
            <a:ext cx="1950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 expectation is a weighted average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31A58F-552B-0E41-94D8-B48811A8AE1F}"/>
              </a:ext>
            </a:extLst>
          </p:cNvPr>
          <p:cNvSpPr txBox="1"/>
          <p:nvPr/>
        </p:nvSpPr>
        <p:spPr>
          <a:xfrm>
            <a:off x="6968701" y="2585830"/>
            <a:ext cx="2175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log is a nonlinear function.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EC0CEB-9A9F-DB4A-A050-B91AA5654B05}"/>
              </a:ext>
            </a:extLst>
          </p:cNvPr>
          <p:cNvSpPr txBox="1"/>
          <p:nvPr/>
        </p:nvSpPr>
        <p:spPr>
          <a:xfrm>
            <a:off x="0" y="0"/>
            <a:ext cx="2909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Evidence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Lower</a:t>
            </a:r>
            <a:r>
              <a:rPr kumimoji="1" lang="zh-CN" altLang="en-US" dirty="0"/>
              <a:t> </a:t>
            </a:r>
            <a:r>
              <a:rPr kumimoji="1" lang="en-US" altLang="zh-CN" dirty="0"/>
              <a:t>Bound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ELBO</a:t>
            </a: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E4F1FA3-4B1B-CB42-81DD-EFF72D12C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357" y="3239306"/>
            <a:ext cx="2428792" cy="17792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248E52-BACC-7E4D-A8F0-7B078EBDE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50034"/>
            <a:ext cx="1592203" cy="5163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6796208-E95F-1443-AD0A-D9EC20BE5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1386" y="4551119"/>
            <a:ext cx="2257941" cy="51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6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BEFB317-6B12-A145-B064-2C634A74E245}"/>
              </a:ext>
            </a:extLst>
          </p:cNvPr>
          <p:cNvSpPr txBox="1"/>
          <p:nvPr/>
        </p:nvSpPr>
        <p:spPr>
          <a:xfrm>
            <a:off x="298174" y="432210"/>
            <a:ext cx="5665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altLang="zh-CN" b="1" dirty="0"/>
              <a:t>ψ_</a:t>
            </a:r>
            <a:r>
              <a:rPr lang="en-US" altLang="zh-CN" b="1" dirty="0"/>
              <a:t>t(x)</a:t>
            </a:r>
            <a:r>
              <a:rPr lang="zh-CN" altLang="en-US" dirty="0"/>
              <a:t>流映射（</a:t>
            </a:r>
            <a:r>
              <a:rPr lang="en-US" altLang="zh-CN" dirty="0"/>
              <a:t>flow </a:t>
            </a:r>
            <a:r>
              <a:rPr lang="en-US" altLang="zh-CN" dirty="0" err="1"/>
              <a:t>map）where</a:t>
            </a:r>
            <a:r>
              <a:rPr lang="zh-CN" altLang="en-US" dirty="0"/>
              <a:t> 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x0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t.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AA4FA2-1548-7F47-B65A-23B01E4C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4" y="914321"/>
            <a:ext cx="3846443" cy="8402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AADA1D3-FC93-9343-AC1C-C4BFB980E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74" y="1894674"/>
            <a:ext cx="7772536" cy="100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6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Training: pair randomly, draw a line</a:t>
            </a:r>
            <a:endParaRPr lang="en-US" sz="3200" dirty="0"/>
          </a:p>
        </p:txBody>
      </p:sp>
      <p:sp>
        <p:nvSpPr>
          <p:cNvPr id="3" name="step-card-0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dot-0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 real image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from the dataset</a:t>
            </a:r>
            <a:endParaRPr lang="en-US" sz="1300" dirty="0"/>
          </a:p>
        </p:txBody>
      </p:sp>
      <p:sp>
        <p:nvSpPr>
          <p:cNvPr id="8" name="step-card-1"/>
          <p:cNvSpPr/>
          <p:nvPr/>
        </p:nvSpPr>
        <p:spPr>
          <a:xfrm>
            <a:off x="256032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-dot-1"/>
          <p:cNvSpPr/>
          <p:nvPr/>
        </p:nvSpPr>
        <p:spPr>
          <a:xfrm>
            <a:off x="2743200" y="1353312"/>
            <a:ext cx="384048" cy="384048"/>
          </a:xfrm>
          <a:prstGeom prst="ellipse">
            <a:avLst/>
          </a:prstGeom>
          <a:solidFill>
            <a:srgbClr val="8A8D9F"/>
          </a:solidFill>
          <a:ln w="12700">
            <a:solidFill>
              <a:srgbClr val="8A8D9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noise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x₀, unrelated to x₁</a:t>
            </a:r>
            <a:endParaRPr lang="en-US" sz="1300" dirty="0"/>
          </a:p>
        </p:txBody>
      </p:sp>
      <p:sp>
        <p:nvSpPr>
          <p:cNvPr id="13" name="step-card-2"/>
          <p:cNvSpPr/>
          <p:nvPr/>
        </p:nvSpPr>
        <p:spPr>
          <a:xfrm>
            <a:off x="466344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dot-2"/>
          <p:cNvSpPr/>
          <p:nvPr/>
        </p:nvSpPr>
        <p:spPr>
          <a:xfrm>
            <a:off x="4846320" y="1353312"/>
            <a:ext cx="384048" cy="38404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along a line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= (1 − t)·x₀ + t·x₁</a:t>
            </a:r>
            <a:endParaRPr lang="en-US" sz="1300" dirty="0"/>
          </a:p>
        </p:txBody>
      </p:sp>
      <p:sp>
        <p:nvSpPr>
          <p:cNvPr id="18" name="step-card-3"/>
          <p:cNvSpPr/>
          <p:nvPr/>
        </p:nvSpPr>
        <p:spPr>
          <a:xfrm>
            <a:off x="676656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-dot-3"/>
          <p:cNvSpPr/>
          <p:nvPr/>
        </p:nvSpPr>
        <p:spPr>
          <a:xfrm>
            <a:off x="6949440" y="1353312"/>
            <a:ext cx="384048" cy="38404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the velocity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x₁ − x₀</a:t>
            </a:r>
            <a:endParaRPr lang="en-US" sz="1300" dirty="0"/>
          </a:p>
        </p:txBody>
      </p:sp>
      <p:sp>
        <p:nvSpPr>
          <p:cNvPr id="23" name="train-code"/>
          <p:cNvSpPr/>
          <p:nvPr/>
        </p:nvSpPr>
        <p:spPr>
          <a:xfrm>
            <a:off x="457200" y="2880360"/>
            <a:ext cx="4937760" cy="169164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990088"/>
            <a:ext cx="45720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= sample_from_dataset()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torch.randn_like(x1)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= torch.rand(1)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 = (1 - t) * x0 + t * x1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((v(xt, t) - (x1 - x0))**2).mean()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knows which noise should become which image, </a:t>
            </a: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just pretend.</a:t>
            </a:r>
            <a:endParaRPr lang="en-US" sz="1500" dirty="0"/>
          </a:p>
        </p:txBody>
      </p:sp>
      <p:sp>
        <p:nvSpPr>
          <p:cNvPr id="26" name="headline-card"/>
          <p:cNvSpPr/>
          <p:nvPr/>
        </p:nvSpPr>
        <p:spPr>
          <a:xfrm>
            <a:off x="5715000" y="3611880"/>
            <a:ext cx="29718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368503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paper’s headline claim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Simulation-free training of CNFs: older methods solved an ODE at every training step; here it is plain regression.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lines disagree at the same point</a:t>
            </a:r>
            <a:endParaRPr lang="en-US" sz="3200" dirty="0"/>
          </a:p>
        </p:txBody>
      </p:sp>
      <p:pic>
        <p:nvPicPr>
          <p:cNvPr id="3" name="Image 0" descr="Straight training lines from noise to +2 or −2 crossing each other; purple dot marks x = 0.5 at t = 0.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21208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88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data: only two points, +2 and −2. Look at x = 0.5 at t = 0.5:</a:t>
            </a:r>
            <a:endParaRPr lang="en-US" sz="1500" dirty="0"/>
          </a:p>
        </p:txBody>
      </p:sp>
      <p:sp>
        <p:nvSpPr>
          <p:cNvPr id="5" name="plus-card"/>
          <p:cNvSpPr/>
          <p:nvPr/>
        </p:nvSpPr>
        <p:spPr>
          <a:xfrm>
            <a:off x="5852160" y="1965960"/>
            <a:ext cx="2926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20299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heading to +2 · about 98%</a:t>
            </a:r>
            <a:endParaRPr lang="en-US" sz="1300" dirty="0"/>
          </a:p>
        </p:txBody>
      </p:sp>
      <p:sp>
        <p:nvSpPr>
          <p:cNvPr id="7" name="minus-card"/>
          <p:cNvSpPr/>
          <p:nvPr/>
        </p:nvSpPr>
        <p:spPr>
          <a:xfrm>
            <a:off x="5852160" y="3063240"/>
            <a:ext cx="2926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312724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heading to −2 · about 2%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two labels. Which should the network learn?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averages them into one flow</a:t>
            </a:r>
            <a:endParaRPr lang="en-US" sz="3200" dirty="0"/>
          </a:p>
        </p:txBody>
      </p:sp>
      <p:pic>
        <p:nvPicPr>
          <p:cNvPr id="3" name="Image 0" descr="Learned averaged flow: trajectories do not cross and split smoothly toward +2 and −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21208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43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several labels: MSE learns their average. Averaged paths never cross.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+2.86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× (+3) + 0.02 × (−5)</a:t>
            </a:r>
            <a:endParaRPr lang="en-US" sz="1200" dirty="0"/>
          </a:p>
        </p:txBody>
      </p:sp>
      <p:sp>
        <p:nvSpPr>
          <p:cNvPr id="7" name="theorem2-card"/>
          <p:cNvSpPr/>
          <p:nvPr/>
        </p:nvSpPr>
        <p:spPr>
          <a:xfrm>
            <a:off x="5852160" y="2788920"/>
            <a:ext cx="29260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88036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paper: Theorem 2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L_FM = E‖v(xₜ,t) − uₜ(xₜ)‖²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A8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average velocity: can’t compute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L_CFM = E‖v(xₜ,t) − (x₁ − x₀)‖²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A8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line’s velocity: easy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gradients, so same trained network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differs by only two lines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(DDPM)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matching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image, noise, time 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mix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schedule: √aₜ·x₁ + √(1 − aₜ)·ε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line: (1 − t)·x₀ + t·x₁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predicts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noise that was added (ε)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velocity toward the image (x₁ − x₀)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sampler converts noise →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ODE solver uses v directly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iff-q"/>
          <p:cNvSpPr/>
          <p:nvPr/>
        </p:nvSpPr>
        <p:spPr>
          <a:xfrm>
            <a:off x="457200" y="3794760"/>
            <a:ext cx="3977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asks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noise is mixed into this image?”</a:t>
            </a:r>
            <a:r>
              <a:rPr lang="en-US" altLang="zh-CN" sz="1600" dirty="0"/>
              <a:t> … then a sampler turns that into a step.</a:t>
            </a:r>
            <a:endParaRPr lang="en-US" sz="1500" dirty="0"/>
          </a:p>
        </p:txBody>
      </p:sp>
      <p:sp>
        <p:nvSpPr>
          <p:cNvPr id="6" name="fm-q"/>
          <p:cNvSpPr/>
          <p:nvPr/>
        </p:nvSpPr>
        <p:spPr>
          <a:xfrm>
            <a:off x="4709160" y="3794760"/>
            <a:ext cx="3977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204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asks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way should I go from here?”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difference is the path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97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barely moves, then overshoots (3.16 at t = 0.9). Flow matching moves at constant speed.</a:t>
            </a:r>
            <a:endParaRPr lang="en-US" sz="1400" dirty="0"/>
          </a:p>
        </p:txBody>
      </p:sp>
      <p:sp>
        <p:nvSpPr>
          <p:cNvPr id="5" name="family-card"/>
          <p:cNvSpPr/>
          <p:nvPr/>
        </p:nvSpPr>
        <p:spPr>
          <a:xfrm>
            <a:off x="5760720" y="1920240"/>
            <a:ext cx="29718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993392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family, two choices (Theorem 3)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 = σₜ·x₀ + μₜ(x₁)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and straight lines differ only in how μₜ and σₜ change over time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~142 vs ~274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611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per image on CIFAR-10, flow matching vs DDPM, same network (paper, Table 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4160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path → big steps stay accurate → faster generation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 to remember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3774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noise and images at random, draw straight lines, and let mean squared error average them into the right velocity field.</a:t>
            </a:r>
            <a:endParaRPr lang="en-US" sz="18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 algn="l">
              <a:buNone/>
            </a:pPr>
            <a:r>
              <a:rPr lang="en-US" sz="1500" strike="sngStrike" dirty="0">
                <a:solidFill>
                  <a:srgbClr val="C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averaged paths are still curved (Rectified Flow) · guidance · latent space</a:t>
            </a:r>
            <a:endParaRPr lang="en-US" sz="1800" strike="sngStrike" dirty="0"/>
          </a:p>
        </p:txBody>
      </p:sp>
      <p:sp>
        <p:nvSpPr>
          <p:cNvPr id="4" name="end-dot-0"/>
          <p:cNvSpPr/>
          <p:nvPr/>
        </p:nvSpPr>
        <p:spPr>
          <a:xfrm>
            <a:off x="6949440" y="4206240"/>
            <a:ext cx="292608" cy="2926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end-dot-1"/>
          <p:cNvSpPr/>
          <p:nvPr/>
        </p:nvSpPr>
        <p:spPr>
          <a:xfrm>
            <a:off x="7498080" y="420624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end-dot-2"/>
          <p:cNvSpPr/>
          <p:nvPr/>
        </p:nvSpPr>
        <p:spPr>
          <a:xfrm>
            <a:off x="8046720" y="4206240"/>
            <a:ext cx="292608" cy="29260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the formal objectives</a:t>
            </a:r>
            <a:endParaRPr lang="en-US" sz="3200" dirty="0"/>
          </a:p>
        </p:txBody>
      </p:sp>
      <p:sp>
        <p:nvSpPr>
          <p:cNvPr id="3" name="fcard-0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loss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2070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L_FM(θ) = E ‖vθ(t, x) − uₜ(x)‖²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2070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drawn from the marginal path pₜ; the true velocity uₜ is unknown</a:t>
            </a:r>
            <a:endParaRPr lang="en-US" sz="1200" dirty="0"/>
          </a:p>
        </p:txBody>
      </p:sp>
      <p:sp>
        <p:nvSpPr>
          <p:cNvPr id="7" name="fcard-1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2140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velocity (eq. 8)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1214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uₜ(x) = ∫ uₜ(x|x₁) · pₜ(x|x₁) q(x₁) / pₜ(x) dx₁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1214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Posterior-weighted average of line velocities</a:t>
            </a:r>
            <a:endParaRPr lang="en-US" sz="1200" dirty="0"/>
          </a:p>
        </p:txBody>
      </p:sp>
      <p:sp>
        <p:nvSpPr>
          <p:cNvPr id="11" name="fcard-2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3580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FM loss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30358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L_CFM(θ) = E ‖vθ(t, xₜ) − uₜ(xₜ|x₁)‖²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0358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from data, x₀ from noise: one line at a time</a:t>
            </a:r>
            <a:endParaRPr lang="en-US" sz="1200" dirty="0"/>
          </a:p>
        </p:txBody>
      </p:sp>
      <p:sp>
        <p:nvSpPr>
          <p:cNvPr id="15" name="fcard-3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5020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Theorems 1 &amp; 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9502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∂ₜpₜ + ∇·(pₜuₜ)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∇θ L_FM = ∇θ L_CFM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9502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uₜ moves noise to data; both losses train the same network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Gaussian paths (Theorem 3)</a:t>
            </a:r>
            <a:endParaRPr lang="en-US" sz="3200" dirty="0"/>
          </a:p>
        </p:txBody>
      </p:sp>
      <p:sp>
        <p:nvSpPr>
          <p:cNvPr id="3" name="thm3-card"/>
          <p:cNvSpPr/>
          <p:nvPr/>
        </p:nvSpPr>
        <p:spPr>
          <a:xfrm>
            <a:off x="457200" y="109728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pₜ(x|x₁) = N(x | μₜ(x₁), σₜ(x₁)² I)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 = σₜ·x₀ + μₜ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uₜ(x|x₁) = μ′ₜ + (σ′ₜ / σₜ)(x − μₜ)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= center motion + uniform stretch about the center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particle keeps its “how many σ from the center” label. The simplest of the infinitely many fields that produce the same Gaussian path.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8531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μₜ(x₁)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σₜ(x₁)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t·x₁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(1 − σ_min)·t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line, constant speed; target x₁ − (1 − σ_min)·x₀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diffusion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α₁₋ₜ·x₁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√(1 − α²₁₋ₜ)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stalls early, rushes late, can overshoot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 diffusion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σ₁₋ₜ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shrinks noise; reaches pure noise only asymptotically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links and limits</a:t>
            </a:r>
            <a:endParaRPr lang="en-US" sz="3200" dirty="0"/>
          </a:p>
        </p:txBody>
      </p:sp>
      <p:sp>
        <p:nvSpPr>
          <p:cNvPr id="3" name="bl-card-0"/>
          <p:cNvSpPr/>
          <p:nvPr/>
        </p:nvSpPr>
        <p:spPr>
          <a:xfrm>
            <a:off x="457200" y="114300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l-dot-0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98% comes from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0.5 each group is Gaussian with width 0.5, centered at ±1. x = 0.5 is 1σ from +1 and 3σ from −1, so the density ratio is e⁴ ≈ 55 : 1.</a:t>
            </a:r>
            <a:endParaRPr lang="en-US" sz="1300" dirty="0"/>
          </a:p>
        </p:txBody>
      </p:sp>
      <p:sp>
        <p:nvSpPr>
          <p:cNvPr id="8" name="bl-card-1"/>
          <p:cNvSpPr/>
          <p:nvPr/>
        </p:nvSpPr>
        <p:spPr>
          <a:xfrm>
            <a:off x="3264408" y="114300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l-dot-1"/>
          <p:cNvSpPr/>
          <p:nvPr/>
        </p:nvSpPr>
        <p:spPr>
          <a:xfrm>
            <a:off x="3447288" y="1325880"/>
            <a:ext cx="384048" cy="38404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is also an ODE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2402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Fokker–Planck rewritten as a continuity equation gives wₜ = fₜ − (gₜ²/2)∇log pₜ (Appendix D): same path, deterministic particles.</a:t>
            </a:r>
            <a:endParaRPr lang="en-US" sz="1300" dirty="0"/>
          </a:p>
        </p:txBody>
      </p:sp>
      <p:sp>
        <p:nvSpPr>
          <p:cNvPr id="13" name="bl-card-2"/>
          <p:cNvSpPr/>
          <p:nvPr/>
        </p:nvSpPr>
        <p:spPr>
          <a:xfrm>
            <a:off x="6071616" y="114300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l-dot-2"/>
          <p:cNvSpPr/>
          <p:nvPr/>
        </p:nvSpPr>
        <p:spPr>
          <a:xfrm>
            <a:off x="6254496" y="1325880"/>
            <a:ext cx="384048" cy="38404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the paper admits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2402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conditional line is straight, but the averaged (marginal) flow is curved and not globally optimal transport. Experiments are mostly unconditional.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D9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 Particles">
  <a:themeElements>
    <a:clrScheme name="Flow Particles">
      <a:dk1>
        <a:srgbClr val="1B1F3B"/>
      </a:dk1>
      <a:lt1>
        <a:srgbClr val="FFFFFF"/>
      </a:lt1>
      <a:dk2>
        <a:srgbClr val="3D4166"/>
      </a:dk2>
      <a:lt2>
        <a:srgbClr val="F1F3F8"/>
      </a:lt2>
      <a:accent1>
        <a:srgbClr val="1D9E75"/>
      </a:accent1>
      <a:accent2>
        <a:srgbClr val="D85A30"/>
      </a:accent2>
      <a:accent3>
        <a:srgbClr val="7F77DD"/>
      </a:accent3>
      <a:accent4>
        <a:srgbClr val="8A8D9F"/>
      </a:accent4>
      <a:accent5>
        <a:srgbClr val="E8A33D"/>
      </a:accent5>
      <a:accent6>
        <a:srgbClr val="2F6F8F"/>
      </a:accent6>
      <a:hlink>
        <a:srgbClr val="2F6F8F"/>
      </a:hlink>
      <a:folHlink>
        <a:srgbClr val="7F77DD"/>
      </a:folHlink>
    </a:clrScheme>
    <a:fontScheme name="Flow Particl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2811</Words>
  <Application>Microsoft Macintosh PowerPoint</Application>
  <PresentationFormat>全屏显示(16:9)</PresentationFormat>
  <Paragraphs>226</Paragraphs>
  <Slides>19</Slides>
  <Notes>15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anthropic-sans</vt:lpstr>
      <vt:lpstr>等线</vt:lpstr>
      <vt:lpstr>Arial</vt:lpstr>
      <vt:lpstr>Calibri</vt:lpstr>
      <vt:lpstr>Cambria</vt:lpstr>
      <vt:lpstr>Courier New</vt:lpstr>
      <vt:lpstr>Flow Particles</vt:lpstr>
      <vt:lpstr>Flow Matching, Intuitively</vt:lpstr>
      <vt:lpstr>An image is a point in space</vt:lpstr>
      <vt:lpstr>Real images live in a thin region</vt:lpstr>
      <vt:lpstr>Generation = follow the arrows</vt:lpstr>
      <vt:lpstr>PowerPoint 演示文稿</vt:lpstr>
      <vt:lpstr>PowerPoint 演示文稿</vt:lpstr>
      <vt:lpstr>PowerPoint 演示文稿</vt:lpstr>
      <vt:lpstr>Score matching</vt:lpstr>
      <vt:lpstr>PowerPoint 演示文稿</vt:lpstr>
      <vt:lpstr>PowerPoint 演示文稿</vt:lpstr>
      <vt:lpstr>Training: pair randomly, draw a line</vt:lpstr>
      <vt:lpstr>Random lines disagree at the same point</vt:lpstr>
      <vt:lpstr>MSE averages them into one flow</vt:lpstr>
      <vt:lpstr>Training differs by only two lines</vt:lpstr>
      <vt:lpstr>The real difference is the path</vt:lpstr>
      <vt:lpstr>One sentence to remember</vt:lpstr>
      <vt:lpstr>Backup: the formal objectives</vt:lpstr>
      <vt:lpstr>Backup: Gaussian paths (Theorem 3)</vt:lpstr>
      <vt:lpstr>Backup: links and limits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Matching, Intuitively</dc:title>
  <dc:subject>PptxGenJS Presentation</dc:subject>
  <dc:creator>PptxGenJS</dc:creator>
  <cp:lastModifiedBy>Thomas Zhang</cp:lastModifiedBy>
  <cp:revision>60</cp:revision>
  <dcterms:created xsi:type="dcterms:W3CDTF">2026-10-16T05:00:04Z</dcterms:created>
  <dcterms:modified xsi:type="dcterms:W3CDTF">2026-10-21T22:31:47Z</dcterms:modified>
</cp:coreProperties>
</file>